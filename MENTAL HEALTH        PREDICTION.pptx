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8"/>
  </p:notesMasterIdLst>
  <p:sldIdLst>
    <p:sldId id="256" r:id="rId2"/>
    <p:sldId id="257" r:id="rId3"/>
    <p:sldId id="258" r:id="rId4"/>
    <p:sldId id="261" r:id="rId5"/>
    <p:sldId id="272" r:id="rId6"/>
    <p:sldId id="273" r:id="rId7"/>
    <p:sldId id="264" r:id="rId8"/>
    <p:sldId id="265" r:id="rId9"/>
    <p:sldId id="266" r:id="rId10"/>
    <p:sldId id="267" r:id="rId11"/>
    <p:sldId id="268" r:id="rId12"/>
    <p:sldId id="275" r:id="rId13"/>
    <p:sldId id="269" r:id="rId14"/>
    <p:sldId id="270" r:id="rId15"/>
    <p:sldId id="274"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BDDB7EC-7AF0-4E85-AC46-070D8AD9D85C}">
          <p14:sldIdLst>
            <p14:sldId id="256"/>
            <p14:sldId id="257"/>
            <p14:sldId id="258"/>
            <p14:sldId id="261"/>
            <p14:sldId id="272"/>
            <p14:sldId id="273"/>
            <p14:sldId id="264"/>
            <p14:sldId id="265"/>
            <p14:sldId id="266"/>
            <p14:sldId id="267"/>
            <p14:sldId id="268"/>
            <p14:sldId id="275"/>
            <p14:sldId id="269"/>
            <p14:sldId id="270"/>
            <p14:sldId id="274"/>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0828" autoAdjust="0"/>
  </p:normalViewPr>
  <p:slideViewPr>
    <p:cSldViewPr snapToGrid="0">
      <p:cViewPr varScale="1">
        <p:scale>
          <a:sx n="66" d="100"/>
          <a:sy n="66" d="100"/>
        </p:scale>
        <p:origin x="882"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34" d="100"/>
          <a:sy n="34" d="100"/>
        </p:scale>
        <p:origin x="229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AAB22-7656-4143-9B80-457509F27BB4}"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1CBB94-7EB6-47E4-A677-3D07A996708E}" type="slidenum">
              <a:rPr lang="en-US" smtClean="0"/>
              <a:t>‹#›</a:t>
            </a:fld>
            <a:endParaRPr lang="en-US"/>
          </a:p>
        </p:txBody>
      </p:sp>
    </p:spTree>
    <p:extLst>
      <p:ext uri="{BB962C8B-B14F-4D97-AF65-F5344CB8AC3E}">
        <p14:creationId xmlns:p14="http://schemas.microsoft.com/office/powerpoint/2010/main" val="1097347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A1CBB94-7EB6-47E4-A677-3D07A996708E}" type="slidenum">
              <a:rPr lang="en-US" smtClean="0"/>
              <a:t>2</a:t>
            </a:fld>
            <a:endParaRPr lang="en-US"/>
          </a:p>
        </p:txBody>
      </p:sp>
    </p:spTree>
    <p:extLst>
      <p:ext uri="{BB962C8B-B14F-4D97-AF65-F5344CB8AC3E}">
        <p14:creationId xmlns:p14="http://schemas.microsoft.com/office/powerpoint/2010/main" val="3151050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1/30/2026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1146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1/30/2026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97288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1/30/2026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8689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7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5886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733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126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1/30/2026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64012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1463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5016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1/30/2026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670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1/30/2026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5758300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0" r:id="rId6"/>
    <p:sldLayoutId id="2147483745" r:id="rId7"/>
    <p:sldLayoutId id="2147483741" r:id="rId8"/>
    <p:sldLayoutId id="2147483742" r:id="rId9"/>
    <p:sldLayoutId id="2147483743" r:id="rId10"/>
    <p:sldLayoutId id="2147483744" r:id="rId11"/>
  </p:sldLayoutIdLst>
  <p:hf sldNum="0" hdr="0" ftr="0" dt="0"/>
  <p:txStyles>
    <p:titleStyle>
      <a:lvl1pPr algn="l" defTabSz="457200" rtl="0" eaLnBrk="1" latinLnBrk="0" hangingPunct="1">
        <a:lnSpc>
          <a:spcPct val="100000"/>
        </a:lnSpc>
        <a:spcBef>
          <a:spcPct val="0"/>
        </a:spcBef>
        <a:buNone/>
        <a:defRPr sz="26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pixabay.com/en/mental-health-brain-thinking-231343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1"/><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s://www.rawpixel.com/image/478374/free-illustration-vector-mental-health-brain-brain-damag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0">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3">
            <a:extLst>
              <a:ext uri="{FF2B5EF4-FFF2-40B4-BE49-F238E27FC236}">
                <a16:creationId xmlns:a16="http://schemas.microsoft.com/office/drawing/2014/main" id="{591E81BA-F392-12F1-EB22-BC1E78097391}"/>
              </a:ext>
            </a:extLst>
          </p:cNvPr>
          <p:cNvPicPr>
            <a:picLocks noChangeAspect="1"/>
          </p:cNvPicPr>
          <p:nvPr/>
        </p:nvPicPr>
        <p:blipFill>
          <a:blip r:embed="rId2"/>
          <a:srcRect t="6201" b="3438"/>
          <a:stretch>
            <a:fillRect/>
          </a:stretch>
        </p:blipFill>
        <p:spPr>
          <a:xfrm>
            <a:off x="0" y="-232572"/>
            <a:ext cx="13296635" cy="7479359"/>
          </a:xfrm>
          <a:prstGeom prst="rect">
            <a:avLst/>
          </a:prstGeom>
        </p:spPr>
      </p:pic>
      <p:sp>
        <p:nvSpPr>
          <p:cNvPr id="29" name="Rectangle 22">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883" y="1661699"/>
            <a:ext cx="3703320" cy="949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4">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883" y="1817914"/>
            <a:ext cx="3702134" cy="3378388"/>
          </a:xfrm>
          <a:prstGeom prst="rect">
            <a:avLst/>
          </a:prstGeom>
          <a:solidFill>
            <a:schemeClr val="bg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75D854C-0822-49B1-9F90-FCD839D9E9B3}"/>
              </a:ext>
            </a:extLst>
          </p:cNvPr>
          <p:cNvSpPr>
            <a:spLocks noGrp="1"/>
          </p:cNvSpPr>
          <p:nvPr>
            <p:ph type="ctrTitle"/>
          </p:nvPr>
        </p:nvSpPr>
        <p:spPr>
          <a:xfrm>
            <a:off x="2062715" y="-1103467"/>
            <a:ext cx="7839567" cy="2918196"/>
          </a:xfrm>
        </p:spPr>
        <p:txBody>
          <a:bodyPr>
            <a:normAutofit/>
          </a:bodyPr>
          <a:lstStyle/>
          <a:p>
            <a:pPr algn="ctr">
              <a:lnSpc>
                <a:spcPct val="90000"/>
              </a:lnSpc>
            </a:pPr>
            <a:r>
              <a:rPr lang="en-US" dirty="0">
                <a:solidFill>
                  <a:schemeClr val="tx1"/>
                </a:solidFill>
                <a:latin typeface="Copperplate Gothic Bold" panose="020E0705020206020404" pitchFamily="34" charset="0"/>
              </a:rPr>
              <a:t>MENTAL  HEALTH   </a:t>
            </a:r>
            <a:r>
              <a:rPr lang="en-US" dirty="0" err="1">
                <a:solidFill>
                  <a:schemeClr val="tx1"/>
                </a:solidFill>
                <a:latin typeface="Copperplate Gothic Bold" panose="020E0705020206020404" pitchFamily="34" charset="0"/>
              </a:rPr>
              <a:t>prEDICTION</a:t>
            </a:r>
            <a:r>
              <a:rPr lang="en-US" dirty="0">
                <a:solidFill>
                  <a:schemeClr val="tx1"/>
                </a:solidFill>
                <a:latin typeface="Copperplate Gothic Bold" panose="020E0705020206020404" pitchFamily="34" charset="0"/>
              </a:rPr>
              <a:t> </a:t>
            </a:r>
          </a:p>
        </p:txBody>
      </p:sp>
      <p:sp>
        <p:nvSpPr>
          <p:cNvPr id="3" name="Subtitle 2">
            <a:extLst>
              <a:ext uri="{FF2B5EF4-FFF2-40B4-BE49-F238E27FC236}">
                <a16:creationId xmlns:a16="http://schemas.microsoft.com/office/drawing/2014/main" id="{F93E14AC-A391-41F5-BB45-93ED0FFB449D}"/>
              </a:ext>
            </a:extLst>
          </p:cNvPr>
          <p:cNvSpPr>
            <a:spLocks noGrp="1"/>
          </p:cNvSpPr>
          <p:nvPr>
            <p:ph type="subTitle" idx="1"/>
          </p:nvPr>
        </p:nvSpPr>
        <p:spPr>
          <a:xfrm>
            <a:off x="899510" y="1756696"/>
            <a:ext cx="10538607" cy="846902"/>
          </a:xfrm>
        </p:spPr>
        <p:txBody>
          <a:bodyPr anchor="ctr">
            <a:normAutofit/>
          </a:bodyPr>
          <a:lstStyle/>
          <a:p>
            <a:pPr lvl="1"/>
            <a:r>
              <a:rPr lang="en-US" sz="2400" dirty="0"/>
              <a:t>Leveraging Machine Learning to Predict Mental Health Disorders</a:t>
            </a:r>
            <a:endParaRPr lang="en-US" sz="2400" strike="sngStrike" dirty="0"/>
          </a:p>
        </p:txBody>
      </p:sp>
      <p:sp>
        <p:nvSpPr>
          <p:cNvPr id="20" name="TextBox 19">
            <a:extLst>
              <a:ext uri="{FF2B5EF4-FFF2-40B4-BE49-F238E27FC236}">
                <a16:creationId xmlns:a16="http://schemas.microsoft.com/office/drawing/2014/main" id="{13EF86E8-6FEE-4B97-BDB4-00A5B56E5DCA}"/>
              </a:ext>
            </a:extLst>
          </p:cNvPr>
          <p:cNvSpPr txBox="1"/>
          <p:nvPr/>
        </p:nvSpPr>
        <p:spPr>
          <a:xfrm>
            <a:off x="8524083" y="4748170"/>
            <a:ext cx="2914034" cy="769441"/>
          </a:xfrm>
          <a:prstGeom prst="rect">
            <a:avLst/>
          </a:prstGeom>
          <a:noFill/>
        </p:spPr>
        <p:txBody>
          <a:bodyPr wrap="square" rtlCol="0">
            <a:spAutoFit/>
          </a:bodyPr>
          <a:lstStyle/>
          <a:p>
            <a:pPr algn="ctr"/>
            <a:r>
              <a:rPr lang="en-US" sz="2400" b="1" dirty="0">
                <a:latin typeface="Bahnschrift SemiBold" panose="020B0502040204020203" pitchFamily="34" charset="0"/>
              </a:rPr>
              <a:t>FATHIMA RIFA</a:t>
            </a:r>
          </a:p>
          <a:p>
            <a:pPr algn="ctr"/>
            <a:endParaRPr lang="en-US" sz="2000" b="1" dirty="0">
              <a:latin typeface="Bahnschrift SemiBold" panose="020B0502040204020203" pitchFamily="34" charset="0"/>
            </a:endParaRPr>
          </a:p>
        </p:txBody>
      </p:sp>
      <p:sp>
        <p:nvSpPr>
          <p:cNvPr id="31" name="TextBox 30">
            <a:extLst>
              <a:ext uri="{FF2B5EF4-FFF2-40B4-BE49-F238E27FC236}">
                <a16:creationId xmlns:a16="http://schemas.microsoft.com/office/drawing/2014/main" id="{0C94A534-8BF6-4D03-BB99-42AB9094A212}"/>
              </a:ext>
            </a:extLst>
          </p:cNvPr>
          <p:cNvSpPr txBox="1"/>
          <p:nvPr/>
        </p:nvSpPr>
        <p:spPr>
          <a:xfrm>
            <a:off x="8911835" y="5132901"/>
            <a:ext cx="5132594" cy="400110"/>
          </a:xfrm>
          <a:prstGeom prst="rect">
            <a:avLst/>
          </a:prstGeom>
          <a:noFill/>
        </p:spPr>
        <p:txBody>
          <a:bodyPr wrap="square" rtlCol="0">
            <a:spAutoFit/>
          </a:bodyPr>
          <a:lstStyle/>
          <a:p>
            <a:r>
              <a:rPr lang="en-US" sz="2000" dirty="0"/>
              <a:t>Data Science</a:t>
            </a:r>
          </a:p>
        </p:txBody>
      </p:sp>
      <p:pic>
        <p:nvPicPr>
          <p:cNvPr id="35" name="Picture 34">
            <a:extLst>
              <a:ext uri="{FF2B5EF4-FFF2-40B4-BE49-F238E27FC236}">
                <a16:creationId xmlns:a16="http://schemas.microsoft.com/office/drawing/2014/main" id="{26E69B0A-14DD-437D-903D-D5E025E9B1D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93401" y="2494550"/>
            <a:ext cx="3023098" cy="2638340"/>
          </a:xfrm>
          <a:prstGeom prst="rect">
            <a:avLst/>
          </a:prstGeom>
        </p:spPr>
      </p:pic>
    </p:spTree>
    <p:extLst>
      <p:ext uri="{BB962C8B-B14F-4D97-AF65-F5344CB8AC3E}">
        <p14:creationId xmlns:p14="http://schemas.microsoft.com/office/powerpoint/2010/main" val="213031890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B77C-9DD8-4D87-BBBB-A946B1654161}"/>
              </a:ext>
            </a:extLst>
          </p:cNvPr>
          <p:cNvSpPr>
            <a:spLocks noGrp="1"/>
          </p:cNvSpPr>
          <p:nvPr>
            <p:ph type="title"/>
          </p:nvPr>
        </p:nvSpPr>
        <p:spPr>
          <a:xfrm>
            <a:off x="361507" y="616688"/>
            <a:ext cx="10988822" cy="871869"/>
          </a:xfrm>
        </p:spPr>
        <p:txBody>
          <a:bodyPr>
            <a:normAutofit/>
          </a:bodyPr>
          <a:lstStyle/>
          <a:p>
            <a:r>
              <a:rPr lang="en-US" sz="3200" dirty="0">
                <a:solidFill>
                  <a:schemeClr val="tx1"/>
                </a:solidFill>
                <a:latin typeface="Copperplate Gothic Bold" panose="020E0705020206020404" pitchFamily="34" charset="0"/>
              </a:rPr>
              <a:t>objective</a:t>
            </a:r>
          </a:p>
        </p:txBody>
      </p:sp>
      <p:sp>
        <p:nvSpPr>
          <p:cNvPr id="4" name="TextBox 3">
            <a:extLst>
              <a:ext uri="{FF2B5EF4-FFF2-40B4-BE49-F238E27FC236}">
                <a16:creationId xmlns:a16="http://schemas.microsoft.com/office/drawing/2014/main" id="{17649D80-7EA4-4C5B-A27A-8DCA0B5A4F04}"/>
              </a:ext>
            </a:extLst>
          </p:cNvPr>
          <p:cNvSpPr txBox="1"/>
          <p:nvPr/>
        </p:nvSpPr>
        <p:spPr>
          <a:xfrm>
            <a:off x="361507" y="1528849"/>
            <a:ext cx="10988822" cy="1200329"/>
          </a:xfrm>
          <a:prstGeom prst="rect">
            <a:avLst/>
          </a:prstGeom>
          <a:noFill/>
        </p:spPr>
        <p:txBody>
          <a:bodyPr wrap="square" rtlCol="0">
            <a:spAutoFit/>
          </a:bodyPr>
          <a:lstStyle/>
          <a:p>
            <a:r>
              <a:rPr lang="en-US" sz="2400" dirty="0">
                <a:latin typeface="Microsoft Tai Le" panose="020B0502040204020203" pitchFamily="34" charset="0"/>
                <a:cs typeface="Microsoft Tai Le" panose="020B0502040204020203" pitchFamily="34" charset="0"/>
              </a:rPr>
              <a:t>To analyze psychological and demographic data to predict the likelihood of mental health disorders using machine learning techniques, enabling early detection and awareness.</a:t>
            </a:r>
          </a:p>
        </p:txBody>
      </p:sp>
      <p:sp>
        <p:nvSpPr>
          <p:cNvPr id="5" name="TextBox 4">
            <a:extLst>
              <a:ext uri="{FF2B5EF4-FFF2-40B4-BE49-F238E27FC236}">
                <a16:creationId xmlns:a16="http://schemas.microsoft.com/office/drawing/2014/main" id="{924E9FE8-3938-44B9-A52E-B8ADD02C1296}"/>
              </a:ext>
            </a:extLst>
          </p:cNvPr>
          <p:cNvSpPr txBox="1"/>
          <p:nvPr/>
        </p:nvSpPr>
        <p:spPr>
          <a:xfrm>
            <a:off x="361507" y="3299145"/>
            <a:ext cx="10988822" cy="523220"/>
          </a:xfrm>
          <a:prstGeom prst="rect">
            <a:avLst/>
          </a:prstGeom>
          <a:noFill/>
        </p:spPr>
        <p:txBody>
          <a:bodyPr wrap="square" rtlCol="0">
            <a:spAutoFit/>
          </a:bodyPr>
          <a:lstStyle/>
          <a:p>
            <a:r>
              <a:rPr lang="en-US" sz="2800" dirty="0">
                <a:latin typeface="Bahnschrift SemiBold SemiConden" panose="020B0502040204020203" pitchFamily="34" charset="0"/>
              </a:rPr>
              <a:t>OVERVIEW STEPS</a:t>
            </a:r>
          </a:p>
        </p:txBody>
      </p:sp>
      <p:sp>
        <p:nvSpPr>
          <p:cNvPr id="6" name="TextBox 5">
            <a:extLst>
              <a:ext uri="{FF2B5EF4-FFF2-40B4-BE49-F238E27FC236}">
                <a16:creationId xmlns:a16="http://schemas.microsoft.com/office/drawing/2014/main" id="{B93D65DB-0617-4764-8315-1A8E31EF59D7}"/>
              </a:ext>
            </a:extLst>
          </p:cNvPr>
          <p:cNvSpPr txBox="1"/>
          <p:nvPr/>
        </p:nvSpPr>
        <p:spPr>
          <a:xfrm>
            <a:off x="361507" y="3823776"/>
            <a:ext cx="9165265" cy="2677656"/>
          </a:xfrm>
          <a:prstGeom prst="rect">
            <a:avLst/>
          </a:prstGeom>
          <a:noFill/>
        </p:spPr>
        <p:txBody>
          <a:bodyPr wrap="square" rtlCol="0">
            <a:spAutoFit/>
          </a:bodyPr>
          <a:lstStyle/>
          <a:p>
            <a:pPr marL="457200" indent="-457200">
              <a:buClr>
                <a:schemeClr val="tx1"/>
              </a:buClr>
              <a:buFont typeface="+mj-lt"/>
              <a:buAutoNum type="arabicPeriod"/>
            </a:pPr>
            <a:r>
              <a:rPr lang="en-US" sz="2400" dirty="0"/>
              <a:t>Dataset Creation</a:t>
            </a:r>
          </a:p>
          <a:p>
            <a:pPr marL="457200" indent="-457200">
              <a:buClr>
                <a:schemeClr val="tx1"/>
              </a:buClr>
              <a:buFont typeface="+mj-lt"/>
              <a:buAutoNum type="arabicPeriod"/>
            </a:pPr>
            <a:r>
              <a:rPr lang="en-US" sz="2400" dirty="0"/>
              <a:t>Data preprocessing</a:t>
            </a:r>
          </a:p>
          <a:p>
            <a:pPr marL="457200" indent="-457200">
              <a:buClr>
                <a:schemeClr val="tx1"/>
              </a:buClr>
              <a:buFont typeface="+mj-lt"/>
              <a:buAutoNum type="arabicPeriod"/>
            </a:pPr>
            <a:r>
              <a:rPr lang="en-US" sz="2400" dirty="0"/>
              <a:t>Training the dataset</a:t>
            </a:r>
          </a:p>
          <a:p>
            <a:pPr marL="457200" indent="-457200">
              <a:buClr>
                <a:schemeClr val="tx1"/>
              </a:buClr>
              <a:buFont typeface="+mj-lt"/>
              <a:buAutoNum type="arabicPeriod"/>
            </a:pPr>
            <a:r>
              <a:rPr lang="en-US" sz="2400" dirty="0"/>
              <a:t>Creating various supervised machine learning model</a:t>
            </a:r>
          </a:p>
          <a:p>
            <a:pPr marL="457200" indent="-457200">
              <a:buClr>
                <a:schemeClr val="tx1"/>
              </a:buClr>
              <a:buFont typeface="+mj-lt"/>
              <a:buAutoNum type="arabicPeriod"/>
            </a:pPr>
            <a:r>
              <a:rPr lang="en-US" sz="2400" dirty="0"/>
              <a:t>Selecting the best performing model</a:t>
            </a:r>
          </a:p>
          <a:p>
            <a:pPr marL="457200" indent="-457200">
              <a:buClr>
                <a:schemeClr val="tx1"/>
              </a:buClr>
              <a:buFont typeface="+mj-lt"/>
              <a:buAutoNum type="arabicPeriod"/>
            </a:pPr>
            <a:r>
              <a:rPr lang="en-US" sz="2400" dirty="0"/>
              <a:t>Deploying the model using </a:t>
            </a:r>
            <a:r>
              <a:rPr lang="en-US" sz="2400" dirty="0" err="1"/>
              <a:t>Streamlit</a:t>
            </a:r>
            <a:endParaRPr lang="en-US" sz="2400" dirty="0"/>
          </a:p>
          <a:p>
            <a:pPr marL="342900" indent="-342900">
              <a:buClr>
                <a:schemeClr val="tx1"/>
              </a:buClr>
              <a:buFont typeface="Arial" panose="020B0604020202020204" pitchFamily="34" charset="0"/>
              <a:buChar char="•"/>
            </a:pPr>
            <a:endParaRPr lang="en-US" sz="2400" dirty="0"/>
          </a:p>
        </p:txBody>
      </p:sp>
      <p:sp>
        <p:nvSpPr>
          <p:cNvPr id="9" name="Rectangle 3">
            <a:extLst>
              <a:ext uri="{FF2B5EF4-FFF2-40B4-BE49-F238E27FC236}">
                <a16:creationId xmlns:a16="http://schemas.microsoft.com/office/drawing/2014/main" id="{995803B7-2961-4244-8A67-BD8923A9688E}"/>
              </a:ext>
            </a:extLst>
          </p:cNvPr>
          <p:cNvSpPr>
            <a:spLocks noChangeArrowheads="1"/>
          </p:cNvSpPr>
          <p:nvPr/>
        </p:nvSpPr>
        <p:spPr bwMode="auto">
          <a:xfrm>
            <a:off x="-23446" y="-184666"/>
            <a:ext cx="288262" cy="25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5F37CAD2-3FFC-424C-A588-07E9BF46597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098971" y="2603164"/>
            <a:ext cx="2647001" cy="2647001"/>
          </a:xfrm>
          <a:prstGeom prst="rect">
            <a:avLst/>
          </a:prstGeom>
        </p:spPr>
      </p:pic>
    </p:spTree>
    <p:extLst>
      <p:ext uri="{BB962C8B-B14F-4D97-AF65-F5344CB8AC3E}">
        <p14:creationId xmlns:p14="http://schemas.microsoft.com/office/powerpoint/2010/main" val="117432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71EAB-616F-463D-ADC4-C8E5E9D97989}"/>
              </a:ext>
            </a:extLst>
          </p:cNvPr>
          <p:cNvSpPr>
            <a:spLocks noGrp="1"/>
          </p:cNvSpPr>
          <p:nvPr>
            <p:ph type="title"/>
          </p:nvPr>
        </p:nvSpPr>
        <p:spPr>
          <a:xfrm>
            <a:off x="373838" y="595423"/>
            <a:ext cx="11019020" cy="574158"/>
          </a:xfrm>
        </p:spPr>
        <p:txBody>
          <a:bodyPr>
            <a:normAutofit/>
          </a:bodyPr>
          <a:lstStyle/>
          <a:p>
            <a:r>
              <a:rPr lang="en-US" sz="2800" dirty="0">
                <a:latin typeface="Copperplate Gothic Bold" panose="020E0705020206020404" pitchFamily="34" charset="0"/>
              </a:rPr>
              <a:t>CHOOSING A DATASET</a:t>
            </a:r>
            <a:endParaRPr lang="en-US" dirty="0"/>
          </a:p>
        </p:txBody>
      </p:sp>
      <p:sp>
        <p:nvSpPr>
          <p:cNvPr id="4" name="TextBox 3">
            <a:extLst>
              <a:ext uri="{FF2B5EF4-FFF2-40B4-BE49-F238E27FC236}">
                <a16:creationId xmlns:a16="http://schemas.microsoft.com/office/drawing/2014/main" id="{88664CF0-84FB-4764-8F31-F6BD59161EF6}"/>
              </a:ext>
            </a:extLst>
          </p:cNvPr>
          <p:cNvSpPr txBox="1"/>
          <p:nvPr/>
        </p:nvSpPr>
        <p:spPr>
          <a:xfrm>
            <a:off x="350392" y="1271545"/>
            <a:ext cx="11307800" cy="2677656"/>
          </a:xfrm>
          <a:prstGeom prst="rect">
            <a:avLst/>
          </a:prstGeom>
          <a:noFill/>
        </p:spPr>
        <p:txBody>
          <a:bodyPr wrap="square" rtlCol="0">
            <a:spAutoFit/>
          </a:bodyPr>
          <a:lstStyle/>
          <a:p>
            <a:pPr marL="342900" indent="-342900">
              <a:buSzPct val="100000"/>
              <a:buFont typeface="Arial" panose="020B0604020202020204" pitchFamily="34" charset="0"/>
              <a:buChar char="•"/>
            </a:pPr>
            <a:r>
              <a:rPr lang="en-US" sz="2400" dirty="0">
                <a:latin typeface="Microsoft New Tai Lue" panose="020B0502040204020203" pitchFamily="34" charset="0"/>
                <a:cs typeface="Microsoft New Tai Lue" panose="020B0502040204020203" pitchFamily="34" charset="0"/>
              </a:rPr>
              <a:t>The dataset was created using Python and Health Research.</a:t>
            </a:r>
          </a:p>
          <a:p>
            <a:pPr marL="285750" indent="-285750">
              <a:buFont typeface="Arial" panose="020B0604020202020204" pitchFamily="34" charset="0"/>
              <a:buChar char="•"/>
            </a:pPr>
            <a:r>
              <a:rPr lang="en-US" sz="2400" dirty="0">
                <a:latin typeface="Microsoft New Tai Lue" panose="020B0502040204020203" pitchFamily="34" charset="0"/>
                <a:cs typeface="Microsoft New Tai Lue" panose="020B0502040204020203" pitchFamily="34" charset="0"/>
              </a:rPr>
              <a:t>The dataset includes various features of both Psychological and Demographic data.</a:t>
            </a:r>
          </a:p>
          <a:p>
            <a:pPr marL="285750" indent="-285750">
              <a:buFont typeface="Arial" panose="020B0604020202020204" pitchFamily="34" charset="0"/>
              <a:buChar char="•"/>
            </a:pPr>
            <a:r>
              <a:rPr lang="en-US" sz="2400" dirty="0">
                <a:latin typeface="Microsoft New Tai Lue" panose="020B0502040204020203" pitchFamily="34" charset="0"/>
                <a:cs typeface="Microsoft New Tai Lue" panose="020B0502040204020203" pitchFamily="34" charset="0"/>
              </a:rPr>
              <a:t>These features are used to analyze and classify whether a person need help or not.</a:t>
            </a:r>
          </a:p>
          <a:p>
            <a:pPr marL="285750" indent="-285750">
              <a:buFont typeface="Arial" panose="020B0604020202020204" pitchFamily="34" charset="0"/>
              <a:buChar char="•"/>
            </a:pPr>
            <a:r>
              <a:rPr lang="en-US" sz="2400" dirty="0">
                <a:latin typeface="Microsoft New Tai Lue" panose="020B0502040204020203" pitchFamily="34" charset="0"/>
                <a:cs typeface="Microsoft New Tai Lue" panose="020B0502040204020203" pitchFamily="34" charset="0"/>
              </a:rPr>
              <a:t>All features were combined into a clean </a:t>
            </a:r>
            <a:r>
              <a:rPr lang="en-US" sz="2400" dirty="0" err="1">
                <a:latin typeface="Microsoft New Tai Lue" panose="020B0502040204020203" pitchFamily="34" charset="0"/>
                <a:cs typeface="Microsoft New Tai Lue" panose="020B0502040204020203" pitchFamily="34" charset="0"/>
              </a:rPr>
              <a:t>dataframe</a:t>
            </a:r>
            <a:r>
              <a:rPr lang="en-US" sz="2400" dirty="0">
                <a:latin typeface="Microsoft New Tai Lue" panose="020B0502040204020203" pitchFamily="34" charset="0"/>
                <a:cs typeface="Microsoft New Tai Lue" panose="020B0502040204020203" pitchFamily="34" charset="0"/>
              </a:rPr>
              <a:t> . Finally, the dataset was saved as a CSV file for further analysis and model training.</a:t>
            </a:r>
          </a:p>
        </p:txBody>
      </p:sp>
      <p:sp>
        <p:nvSpPr>
          <p:cNvPr id="6" name="TextBox 5">
            <a:extLst>
              <a:ext uri="{FF2B5EF4-FFF2-40B4-BE49-F238E27FC236}">
                <a16:creationId xmlns:a16="http://schemas.microsoft.com/office/drawing/2014/main" id="{F95F1CF4-DD4E-4BBC-852E-897B5BE9F213}"/>
              </a:ext>
            </a:extLst>
          </p:cNvPr>
          <p:cNvSpPr txBox="1"/>
          <p:nvPr/>
        </p:nvSpPr>
        <p:spPr>
          <a:xfrm>
            <a:off x="373838" y="4021366"/>
            <a:ext cx="5372986" cy="523220"/>
          </a:xfrm>
          <a:prstGeom prst="rect">
            <a:avLst/>
          </a:prstGeom>
          <a:noFill/>
        </p:spPr>
        <p:txBody>
          <a:bodyPr wrap="square" rtlCol="0">
            <a:spAutoFit/>
          </a:bodyPr>
          <a:lstStyle/>
          <a:p>
            <a:r>
              <a:rPr lang="en-US" sz="2800" dirty="0">
                <a:latin typeface="Bahnschrift" panose="020B0502040204020203" pitchFamily="34" charset="0"/>
              </a:rPr>
              <a:t>Brief Description:</a:t>
            </a:r>
          </a:p>
        </p:txBody>
      </p:sp>
      <p:sp>
        <p:nvSpPr>
          <p:cNvPr id="7" name="TextBox 6">
            <a:extLst>
              <a:ext uri="{FF2B5EF4-FFF2-40B4-BE49-F238E27FC236}">
                <a16:creationId xmlns:a16="http://schemas.microsoft.com/office/drawing/2014/main" id="{A8A11D6C-FA1D-4CFA-9C17-4581DE45F400}"/>
              </a:ext>
            </a:extLst>
          </p:cNvPr>
          <p:cNvSpPr txBox="1"/>
          <p:nvPr/>
        </p:nvSpPr>
        <p:spPr>
          <a:xfrm>
            <a:off x="418654" y="4549365"/>
            <a:ext cx="11171276" cy="1200329"/>
          </a:xfrm>
          <a:prstGeom prst="rect">
            <a:avLst/>
          </a:prstGeom>
          <a:noFill/>
        </p:spPr>
        <p:txBody>
          <a:bodyPr wrap="square" rtlCol="0">
            <a:spAutoFit/>
          </a:bodyPr>
          <a:lstStyle/>
          <a:p>
            <a:r>
              <a:rPr lang="en-US" sz="2400" dirty="0">
                <a:latin typeface="Microsoft Tai Le" panose="020B0502040204020203" pitchFamily="34" charset="0"/>
                <a:cs typeface="Microsoft Tai Le" panose="020B0502040204020203" pitchFamily="34" charset="0"/>
              </a:rPr>
              <a:t>The dataset includes features such as age, gender, city, education level, income rate, depression score, anxiety score, stress score, suicide risk score and treatment access.</a:t>
            </a:r>
          </a:p>
        </p:txBody>
      </p:sp>
      <p:sp>
        <p:nvSpPr>
          <p:cNvPr id="3" name="TextBox 2">
            <a:extLst>
              <a:ext uri="{FF2B5EF4-FFF2-40B4-BE49-F238E27FC236}">
                <a16:creationId xmlns:a16="http://schemas.microsoft.com/office/drawing/2014/main" id="{9CA40A25-1D16-4D34-88A0-859B80F3A477}"/>
              </a:ext>
            </a:extLst>
          </p:cNvPr>
          <p:cNvSpPr txBox="1"/>
          <p:nvPr/>
        </p:nvSpPr>
        <p:spPr>
          <a:xfrm>
            <a:off x="418654" y="5862467"/>
            <a:ext cx="10554145" cy="461665"/>
          </a:xfrm>
          <a:prstGeom prst="rect">
            <a:avLst/>
          </a:prstGeom>
          <a:noFill/>
        </p:spPr>
        <p:txBody>
          <a:bodyPr wrap="square" rtlCol="0">
            <a:spAutoFit/>
          </a:bodyPr>
          <a:lstStyle/>
          <a:p>
            <a:r>
              <a:rPr lang="en-US" sz="2400" dirty="0">
                <a:latin typeface="Microsoft New Tai Lue" panose="020B0502040204020203" pitchFamily="34" charset="0"/>
                <a:cs typeface="Microsoft New Tai Lue" panose="020B0502040204020203" pitchFamily="34" charset="0"/>
              </a:rPr>
              <a:t>Dataset includes 50,000 rows and 13 columns</a:t>
            </a:r>
            <a:r>
              <a:rPr lang="en-US" sz="2000" dirty="0"/>
              <a:t>.</a:t>
            </a:r>
          </a:p>
        </p:txBody>
      </p:sp>
    </p:spTree>
    <p:extLst>
      <p:ext uri="{BB962C8B-B14F-4D97-AF65-F5344CB8AC3E}">
        <p14:creationId xmlns:p14="http://schemas.microsoft.com/office/powerpoint/2010/main" val="3964267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AAFD6A-31BB-4CA3-AB0D-2A140A78155A}"/>
              </a:ext>
            </a:extLst>
          </p:cNvPr>
          <p:cNvSpPr>
            <a:spLocks noGrp="1"/>
          </p:cNvSpPr>
          <p:nvPr>
            <p:ph type="body" idx="1"/>
          </p:nvPr>
        </p:nvSpPr>
        <p:spPr>
          <a:xfrm>
            <a:off x="389861" y="765544"/>
            <a:ext cx="5194769" cy="659219"/>
          </a:xfrm>
        </p:spPr>
        <p:txBody>
          <a:bodyPr/>
          <a:lstStyle/>
          <a:p>
            <a:r>
              <a:rPr lang="en-US" sz="2800" u="sng" dirty="0">
                <a:solidFill>
                  <a:schemeClr val="tx1"/>
                </a:solidFill>
                <a:latin typeface="Copperplate Gothic Bold" panose="020E0705020206020404" pitchFamily="34" charset="0"/>
              </a:rPr>
              <a:t>FEATURES</a:t>
            </a:r>
          </a:p>
        </p:txBody>
      </p:sp>
      <p:sp>
        <p:nvSpPr>
          <p:cNvPr id="4" name="Content Placeholder 3">
            <a:extLst>
              <a:ext uri="{FF2B5EF4-FFF2-40B4-BE49-F238E27FC236}">
                <a16:creationId xmlns:a16="http://schemas.microsoft.com/office/drawing/2014/main" id="{24021449-0BF5-46CC-A6DB-8295BD9C89D6}"/>
              </a:ext>
            </a:extLst>
          </p:cNvPr>
          <p:cNvSpPr>
            <a:spLocks noGrp="1"/>
          </p:cNvSpPr>
          <p:nvPr>
            <p:ph sz="half" idx="2"/>
          </p:nvPr>
        </p:nvSpPr>
        <p:spPr>
          <a:xfrm>
            <a:off x="581192" y="1637414"/>
            <a:ext cx="5194766" cy="6709417"/>
          </a:xfrm>
        </p:spPr>
        <p:txBody>
          <a:bodyPr>
            <a:normAutofit/>
          </a:bodyPr>
          <a:lstStyle/>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Gender</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Age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City</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Education Level</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Income Rate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Depression Score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Anxiety Score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Stress Score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Suicide Risk Score</a:t>
            </a:r>
          </a:p>
          <a:p>
            <a:pPr>
              <a:buClr>
                <a:schemeClr val="tx1"/>
              </a:buClr>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Treatment Access</a:t>
            </a:r>
          </a:p>
          <a:p>
            <a:pPr>
              <a:buClr>
                <a:schemeClr val="tx1"/>
              </a:buClr>
              <a:buFont typeface="Arial" panose="020B0604020202020204" pitchFamily="34" charset="0"/>
              <a:buChar char="•"/>
            </a:pPr>
            <a:endParaRPr lang="en-US" sz="2000" dirty="0">
              <a:latin typeface="Microsoft Tai Le" panose="020B0502040204020203" pitchFamily="34" charset="0"/>
              <a:cs typeface="Microsoft Tai Le" panose="020B0502040204020203" pitchFamily="34" charset="0"/>
            </a:endParaRPr>
          </a:p>
        </p:txBody>
      </p:sp>
      <p:sp>
        <p:nvSpPr>
          <p:cNvPr id="5" name="Text Placeholder 4">
            <a:extLst>
              <a:ext uri="{FF2B5EF4-FFF2-40B4-BE49-F238E27FC236}">
                <a16:creationId xmlns:a16="http://schemas.microsoft.com/office/drawing/2014/main" id="{D0C1FFF6-A40D-492A-B680-313CCF40F4E9}"/>
              </a:ext>
            </a:extLst>
          </p:cNvPr>
          <p:cNvSpPr>
            <a:spLocks noGrp="1"/>
          </p:cNvSpPr>
          <p:nvPr>
            <p:ph type="body" sz="quarter" idx="3"/>
          </p:nvPr>
        </p:nvSpPr>
        <p:spPr>
          <a:xfrm>
            <a:off x="6416038" y="765544"/>
            <a:ext cx="5386101" cy="659219"/>
          </a:xfrm>
        </p:spPr>
        <p:txBody>
          <a:bodyPr/>
          <a:lstStyle/>
          <a:p>
            <a:r>
              <a:rPr lang="en-US" sz="2800" u="sng" dirty="0">
                <a:solidFill>
                  <a:schemeClr val="tx1"/>
                </a:solidFill>
                <a:latin typeface="Copperplate Gothic Bold" panose="020E0705020206020404" pitchFamily="34" charset="0"/>
              </a:rPr>
              <a:t>targets</a:t>
            </a:r>
          </a:p>
        </p:txBody>
      </p:sp>
      <p:sp>
        <p:nvSpPr>
          <p:cNvPr id="6" name="Content Placeholder 5">
            <a:extLst>
              <a:ext uri="{FF2B5EF4-FFF2-40B4-BE49-F238E27FC236}">
                <a16:creationId xmlns:a16="http://schemas.microsoft.com/office/drawing/2014/main" id="{7D3A0A7C-98CC-48CC-B5B8-B3C37A4A1662}"/>
              </a:ext>
            </a:extLst>
          </p:cNvPr>
          <p:cNvSpPr>
            <a:spLocks noGrp="1"/>
          </p:cNvSpPr>
          <p:nvPr>
            <p:ph sz="quarter" idx="4"/>
          </p:nvPr>
        </p:nvSpPr>
        <p:spPr>
          <a:xfrm>
            <a:off x="6416037" y="1637414"/>
            <a:ext cx="5194771" cy="4223637"/>
          </a:xfrm>
        </p:spPr>
        <p:txBody>
          <a:bodyPr/>
          <a:lstStyle/>
          <a:p>
            <a:pPr>
              <a:buClr>
                <a:schemeClr val="tx1"/>
              </a:buClr>
              <a:buFont typeface="Arial" panose="020B0604020202020204" pitchFamily="34" charset="0"/>
              <a:buChar char="•"/>
            </a:pPr>
            <a:r>
              <a:rPr lang="en-US" sz="2400" dirty="0">
                <a:cs typeface="Microsoft New Tai Lue" panose="020B0502040204020203" pitchFamily="34" charset="0"/>
              </a:rPr>
              <a:t>Diagnosed Disorder = Yes</a:t>
            </a:r>
          </a:p>
          <a:p>
            <a:pPr>
              <a:buClr>
                <a:schemeClr val="tx1"/>
              </a:buClr>
              <a:buFont typeface="Arial" panose="020B0604020202020204" pitchFamily="34" charset="0"/>
              <a:buChar char="•"/>
            </a:pPr>
            <a:r>
              <a:rPr lang="en-US" sz="2400" dirty="0">
                <a:cs typeface="Microsoft New Tai Lue" panose="020B0502040204020203" pitchFamily="34" charset="0"/>
              </a:rPr>
              <a:t>Diagnosed Disorder = No</a:t>
            </a:r>
          </a:p>
          <a:p>
            <a:endParaRPr lang="en-US" dirty="0">
              <a:latin typeface="Microsoft New Tai Lue" panose="020B0502040204020203" pitchFamily="34" charset="0"/>
              <a:cs typeface="Microsoft New Tai Lue" panose="020B0502040204020203" pitchFamily="34" charset="0"/>
            </a:endParaRPr>
          </a:p>
        </p:txBody>
      </p:sp>
    </p:spTree>
    <p:extLst>
      <p:ext uri="{BB962C8B-B14F-4D97-AF65-F5344CB8AC3E}">
        <p14:creationId xmlns:p14="http://schemas.microsoft.com/office/powerpoint/2010/main" val="1129408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06E660-7FB9-49BA-BA6B-9C61D5D5AF58}"/>
              </a:ext>
            </a:extLst>
          </p:cNvPr>
          <p:cNvSpPr txBox="1"/>
          <p:nvPr/>
        </p:nvSpPr>
        <p:spPr>
          <a:xfrm>
            <a:off x="445478" y="2210189"/>
            <a:ext cx="11465168" cy="1985159"/>
          </a:xfrm>
          <a:prstGeom prst="rect">
            <a:avLst/>
          </a:prstGeom>
          <a:noFill/>
        </p:spPr>
        <p:txBody>
          <a:bodyPr wrap="square" rtlCol="0">
            <a:spAutoFit/>
          </a:bodyPr>
          <a:lstStyle/>
          <a:p>
            <a:pPr>
              <a:spcBef>
                <a:spcPts val="600"/>
              </a:spcBef>
              <a:spcAft>
                <a:spcPts val="600"/>
              </a:spcAft>
            </a:pPr>
            <a:r>
              <a:rPr lang="en-US" sz="2000" dirty="0">
                <a:latin typeface="Microsoft New Tai Lue" panose="020B0502040204020203" pitchFamily="34" charset="0"/>
                <a:cs typeface="Microsoft New Tai Lue" panose="020B0502040204020203" pitchFamily="34" charset="0"/>
              </a:rPr>
              <a:t>Lack of early identification of mental health disorders leads to delayed treatment and worsening mental health outcomes. Many individuals do not have access to early screening tools ,resulting in untreated psychological conditions. The goal is to predict whether a person is diagnosed with a mental health disorder using available data. The problem is modeled as a binary classification task. Multiple machine learning models are trained and evaluated to find the best-performing model.</a:t>
            </a:r>
          </a:p>
          <a:p>
            <a:endParaRPr lang="en-US" dirty="0"/>
          </a:p>
        </p:txBody>
      </p:sp>
      <p:sp>
        <p:nvSpPr>
          <p:cNvPr id="3" name="TextBox 2">
            <a:extLst>
              <a:ext uri="{FF2B5EF4-FFF2-40B4-BE49-F238E27FC236}">
                <a16:creationId xmlns:a16="http://schemas.microsoft.com/office/drawing/2014/main" id="{A30EF68B-2830-4638-B7AE-2620545D81CF}"/>
              </a:ext>
            </a:extLst>
          </p:cNvPr>
          <p:cNvSpPr txBox="1"/>
          <p:nvPr/>
        </p:nvSpPr>
        <p:spPr>
          <a:xfrm>
            <a:off x="445478" y="1452650"/>
            <a:ext cx="5486400" cy="738664"/>
          </a:xfrm>
          <a:prstGeom prst="rect">
            <a:avLst/>
          </a:prstGeom>
          <a:noFill/>
        </p:spPr>
        <p:txBody>
          <a:bodyPr wrap="square" rtlCol="0">
            <a:spAutoFit/>
          </a:bodyPr>
          <a:lstStyle/>
          <a:p>
            <a:r>
              <a:rPr lang="en-US" sz="2400" u="sng" dirty="0">
                <a:latin typeface="Copperplate Gothic Bold" panose="020E0705020206020404" pitchFamily="34" charset="0"/>
              </a:rPr>
              <a:t>PROBLEM DEFINITION</a:t>
            </a:r>
          </a:p>
          <a:p>
            <a:endParaRPr lang="en-US" dirty="0"/>
          </a:p>
        </p:txBody>
      </p:sp>
      <p:sp>
        <p:nvSpPr>
          <p:cNvPr id="4" name="TextBox 3">
            <a:extLst>
              <a:ext uri="{FF2B5EF4-FFF2-40B4-BE49-F238E27FC236}">
                <a16:creationId xmlns:a16="http://schemas.microsoft.com/office/drawing/2014/main" id="{92C10631-19EF-4D60-8970-6E2E809C6899}"/>
              </a:ext>
            </a:extLst>
          </p:cNvPr>
          <p:cNvSpPr txBox="1"/>
          <p:nvPr/>
        </p:nvSpPr>
        <p:spPr>
          <a:xfrm>
            <a:off x="445478" y="760659"/>
            <a:ext cx="8112368" cy="584775"/>
          </a:xfrm>
          <a:prstGeom prst="rect">
            <a:avLst/>
          </a:prstGeom>
          <a:noFill/>
        </p:spPr>
        <p:txBody>
          <a:bodyPr wrap="square" rtlCol="0">
            <a:spAutoFit/>
          </a:bodyPr>
          <a:lstStyle/>
          <a:p>
            <a:r>
              <a:rPr lang="en-US" sz="3200" dirty="0">
                <a:latin typeface="+mj-lt"/>
              </a:rPr>
              <a:t>UNDERSTANDING THE PROBLEM</a:t>
            </a:r>
          </a:p>
        </p:txBody>
      </p:sp>
      <p:sp>
        <p:nvSpPr>
          <p:cNvPr id="5" name="TextBox 4">
            <a:extLst>
              <a:ext uri="{FF2B5EF4-FFF2-40B4-BE49-F238E27FC236}">
                <a16:creationId xmlns:a16="http://schemas.microsoft.com/office/drawing/2014/main" id="{D1351E12-B610-4184-9FF5-52037739D21F}"/>
              </a:ext>
            </a:extLst>
          </p:cNvPr>
          <p:cNvSpPr txBox="1"/>
          <p:nvPr/>
        </p:nvSpPr>
        <p:spPr>
          <a:xfrm>
            <a:off x="445478" y="4214223"/>
            <a:ext cx="4126523" cy="738664"/>
          </a:xfrm>
          <a:prstGeom prst="rect">
            <a:avLst/>
          </a:prstGeom>
          <a:noFill/>
        </p:spPr>
        <p:txBody>
          <a:bodyPr wrap="square" rtlCol="0">
            <a:spAutoFit/>
          </a:bodyPr>
          <a:lstStyle/>
          <a:p>
            <a:r>
              <a:rPr lang="en-US" sz="2400" u="sng" dirty="0">
                <a:latin typeface="Copperplate Gothic Bold" panose="020E0705020206020404" pitchFamily="34" charset="0"/>
              </a:rPr>
              <a:t>IMPORTANCE</a:t>
            </a:r>
          </a:p>
          <a:p>
            <a:endParaRPr lang="en-US" dirty="0"/>
          </a:p>
        </p:txBody>
      </p:sp>
      <p:sp>
        <p:nvSpPr>
          <p:cNvPr id="6" name="TextBox 5">
            <a:extLst>
              <a:ext uri="{FF2B5EF4-FFF2-40B4-BE49-F238E27FC236}">
                <a16:creationId xmlns:a16="http://schemas.microsoft.com/office/drawing/2014/main" id="{28C3D463-6A1B-48BF-8FE7-61499F6CAC31}"/>
              </a:ext>
            </a:extLst>
          </p:cNvPr>
          <p:cNvSpPr txBox="1"/>
          <p:nvPr/>
        </p:nvSpPr>
        <p:spPr>
          <a:xfrm>
            <a:off x="445478" y="5060103"/>
            <a:ext cx="11113476" cy="1200329"/>
          </a:xfrm>
          <a:prstGeom prst="rect">
            <a:avLst/>
          </a:prstGeom>
          <a:noFill/>
        </p:spPr>
        <p:txBody>
          <a:bodyPr wrap="square" rtlCol="0">
            <a:spAutoFit/>
          </a:bodyPr>
          <a:lstStyle/>
          <a:p>
            <a:r>
              <a:rPr lang="en-US" sz="2400" dirty="0">
                <a:latin typeface="Microsoft Tai Le" panose="020B0502040204020203" pitchFamily="34" charset="0"/>
                <a:cs typeface="Microsoft Tai Le" panose="020B0502040204020203" pitchFamily="34" charset="0"/>
              </a:rPr>
              <a:t>Accurate mental health prediction helps in early interventions, reduces long-term risks and promotes overall well-being and productivity.</a:t>
            </a:r>
            <a:r>
              <a:rPr lang="en-US" sz="2400" dirty="0">
                <a:latin typeface="Microsoft New Tai Lue" panose="020B0502040204020203" pitchFamily="34" charset="0"/>
                <a:cs typeface="Microsoft New Tai Lue" panose="020B0502040204020203" pitchFamily="34" charset="0"/>
              </a:rPr>
              <a:t> Demonstrates the effective use of machine learning in healthcare applications.</a:t>
            </a:r>
          </a:p>
        </p:txBody>
      </p:sp>
    </p:spTree>
    <p:extLst>
      <p:ext uri="{BB962C8B-B14F-4D97-AF65-F5344CB8AC3E}">
        <p14:creationId xmlns:p14="http://schemas.microsoft.com/office/powerpoint/2010/main" val="124656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4168C-7A19-417F-BDC3-DDD0CF8C6329}"/>
              </a:ext>
            </a:extLst>
          </p:cNvPr>
          <p:cNvSpPr txBox="1"/>
          <p:nvPr/>
        </p:nvSpPr>
        <p:spPr>
          <a:xfrm>
            <a:off x="351692" y="924299"/>
            <a:ext cx="6940062" cy="584775"/>
          </a:xfrm>
          <a:prstGeom prst="rect">
            <a:avLst/>
          </a:prstGeom>
          <a:noFill/>
        </p:spPr>
        <p:txBody>
          <a:bodyPr wrap="square" rtlCol="0">
            <a:spAutoFit/>
          </a:bodyPr>
          <a:lstStyle/>
          <a:p>
            <a:r>
              <a:rPr lang="en-US" sz="3200" dirty="0">
                <a:latin typeface="+mj-lt"/>
              </a:rPr>
              <a:t>DATA PREPROCESSING</a:t>
            </a:r>
          </a:p>
        </p:txBody>
      </p:sp>
      <p:sp>
        <p:nvSpPr>
          <p:cNvPr id="3" name="TextBox 2">
            <a:extLst>
              <a:ext uri="{FF2B5EF4-FFF2-40B4-BE49-F238E27FC236}">
                <a16:creationId xmlns:a16="http://schemas.microsoft.com/office/drawing/2014/main" id="{6282A8D4-7EC5-415D-B887-0C086E84EDB5}"/>
              </a:ext>
            </a:extLst>
          </p:cNvPr>
          <p:cNvSpPr txBox="1"/>
          <p:nvPr/>
        </p:nvSpPr>
        <p:spPr>
          <a:xfrm>
            <a:off x="351692" y="1857095"/>
            <a:ext cx="11441723" cy="4616648"/>
          </a:xfrm>
          <a:prstGeom prst="rect">
            <a:avLst/>
          </a:prstGeom>
          <a:noFill/>
        </p:spPr>
        <p:txBody>
          <a:bodyPr wrap="square" rtlCol="0">
            <a:spAutoFit/>
          </a:bodyPr>
          <a:lstStyle/>
          <a:p>
            <a:pPr marL="342900" indent="-342900">
              <a:buAutoNum type="arabicPeriod"/>
            </a:pPr>
            <a:r>
              <a:rPr lang="en-US" sz="2400" dirty="0">
                <a:latin typeface="Arial Rounded MT Bold" panose="020F0704030504030204" pitchFamily="34" charset="0"/>
                <a:cs typeface="Microsoft New Tai Lue" panose="020B0502040204020203" pitchFamily="34" charset="0"/>
              </a:rPr>
              <a:t>Rename : </a:t>
            </a:r>
            <a:r>
              <a:rPr lang="en-US" sz="2400" dirty="0">
                <a:latin typeface="Microsoft New Tai Lue" panose="020B0502040204020203" pitchFamily="34" charset="0"/>
                <a:cs typeface="Microsoft New Tai Lue" panose="020B0502040204020203" pitchFamily="34" charset="0"/>
              </a:rPr>
              <a:t>Renamed the columns name of rural/urban and Education level. </a:t>
            </a:r>
          </a:p>
          <a:p>
            <a:pPr marL="342900" indent="-342900">
              <a:buFont typeface="+mj-lt"/>
              <a:buAutoNum type="arabicPeriod"/>
            </a:pPr>
            <a:r>
              <a:rPr lang="en-US" sz="2400" dirty="0">
                <a:latin typeface="Arial Rounded MT Bold" panose="020F0704030504030204" pitchFamily="34" charset="0"/>
                <a:cs typeface="Microsoft New Tai Lue" panose="020B0502040204020203" pitchFamily="34" charset="0"/>
              </a:rPr>
              <a:t>Encoding Categorical Variables : </a:t>
            </a:r>
            <a:r>
              <a:rPr lang="en-US" sz="2400" dirty="0">
                <a:latin typeface="Microsoft New Tai Lue" panose="020B0502040204020203" pitchFamily="34" charset="0"/>
                <a:cs typeface="Microsoft New Tai Lue" panose="020B0502040204020203" pitchFamily="34" charset="0"/>
              </a:rPr>
              <a:t>Convert Categorical data (</a:t>
            </a:r>
            <a:r>
              <a:rPr lang="en-US" sz="2400" dirty="0" err="1">
                <a:latin typeface="Microsoft New Tai Lue" panose="020B0502040204020203" pitchFamily="34" charset="0"/>
                <a:cs typeface="Microsoft New Tai Lue" panose="020B0502040204020203" pitchFamily="34" charset="0"/>
              </a:rPr>
              <a:t>Eg</a:t>
            </a:r>
            <a:r>
              <a:rPr lang="en-US" sz="2400" dirty="0">
                <a:latin typeface="Microsoft New Tai Lue" panose="020B0502040204020203" pitchFamily="34" charset="0"/>
                <a:cs typeface="Microsoft New Tai Lue" panose="020B0502040204020203" pitchFamily="34" charset="0"/>
              </a:rPr>
              <a:t> :- gender, city, treatment access)into numeric formats using techniques like label encoding. Mapping performed in education.</a:t>
            </a:r>
          </a:p>
          <a:p>
            <a:pPr marL="342900" indent="-342900">
              <a:buFont typeface="+mj-lt"/>
              <a:buAutoNum type="arabicPeriod"/>
            </a:pPr>
            <a:r>
              <a:rPr lang="en-US" sz="2400" dirty="0">
                <a:latin typeface="Arial Rounded MT Bold" panose="020F0704030504030204" pitchFamily="34" charset="0"/>
                <a:cs typeface="Microsoft New Tai Lue" panose="020B0502040204020203" pitchFamily="34" charset="0"/>
              </a:rPr>
              <a:t>Scaling Numerical Features : </a:t>
            </a:r>
            <a:r>
              <a:rPr lang="en-US" sz="2400" dirty="0">
                <a:latin typeface="Microsoft New Tai Lue" panose="020B0502040204020203" pitchFamily="34" charset="0"/>
                <a:cs typeface="Microsoft New Tai Lue" panose="020B0502040204020203" pitchFamily="34" charset="0"/>
              </a:rPr>
              <a:t>Normalize or standardize numerical features to ensure consistent scale.</a:t>
            </a:r>
          </a:p>
          <a:p>
            <a:pPr marL="342900" indent="-342900">
              <a:buFont typeface="+mj-lt"/>
              <a:buAutoNum type="arabicPeriod"/>
            </a:pPr>
            <a:r>
              <a:rPr lang="en-US" sz="2400" dirty="0">
                <a:latin typeface="Arial Rounded MT Bold" panose="020F0704030504030204" pitchFamily="34" charset="0"/>
                <a:cs typeface="Microsoft New Tai Lue" panose="020B0502040204020203" pitchFamily="34" charset="0"/>
              </a:rPr>
              <a:t>Feature Selection </a:t>
            </a:r>
            <a:r>
              <a:rPr lang="en-US" sz="2400" dirty="0">
                <a:latin typeface="Microsoft New Tai Lue" panose="020B0502040204020203" pitchFamily="34" charset="0"/>
                <a:cs typeface="Microsoft New Tai Lue" panose="020B0502040204020203" pitchFamily="34" charset="0"/>
              </a:rPr>
              <a:t>: Select relevant Features by analyzing correlations and removing irrelevant or redundant data.</a:t>
            </a:r>
          </a:p>
          <a:p>
            <a:pPr marL="342900" indent="-342900">
              <a:buFont typeface="+mj-lt"/>
              <a:buAutoNum type="arabicPeriod"/>
            </a:pPr>
            <a:r>
              <a:rPr lang="en-US" sz="2400" dirty="0">
                <a:latin typeface="Arial Rounded MT Bold" panose="020F0704030504030204" pitchFamily="34" charset="0"/>
                <a:cs typeface="Microsoft New Tai Lue" panose="020B0502040204020203" pitchFamily="34" charset="0"/>
              </a:rPr>
              <a:t>Data splitting: </a:t>
            </a:r>
            <a:r>
              <a:rPr lang="en-US" sz="2400" dirty="0">
                <a:latin typeface="Microsoft New Tai Lue" panose="020B0502040204020203" pitchFamily="34" charset="0"/>
                <a:cs typeface="Microsoft New Tai Lue" panose="020B0502040204020203" pitchFamily="34" charset="0"/>
              </a:rPr>
              <a:t>Dividing the data into training, Hyperparameter tuning and test sets to evaluate model performance.</a:t>
            </a:r>
          </a:p>
          <a:p>
            <a:endParaRPr lang="en-US" dirty="0"/>
          </a:p>
          <a:p>
            <a:pPr marL="342900" indent="-342900">
              <a:buFont typeface="+mj-lt"/>
              <a:buAutoNum type="arabicPeriod"/>
            </a:pP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210860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43EE-122A-4404-9318-8BAEE1B94517}"/>
              </a:ext>
            </a:extLst>
          </p:cNvPr>
          <p:cNvSpPr>
            <a:spLocks noGrp="1"/>
          </p:cNvSpPr>
          <p:nvPr>
            <p:ph type="title"/>
          </p:nvPr>
        </p:nvSpPr>
        <p:spPr>
          <a:xfrm>
            <a:off x="445476" y="867506"/>
            <a:ext cx="10855233" cy="616021"/>
          </a:xfrm>
        </p:spPr>
        <p:txBody>
          <a:bodyPr>
            <a:noAutofit/>
          </a:bodyPr>
          <a:lstStyle/>
          <a:p>
            <a:r>
              <a:rPr lang="en-US" sz="3200" dirty="0"/>
              <a:t>Exploratory data analytics (</a:t>
            </a:r>
            <a:r>
              <a:rPr lang="en-US" sz="3200" dirty="0" err="1"/>
              <a:t>eda</a:t>
            </a:r>
            <a:r>
              <a:rPr lang="en-US" sz="3200" dirty="0"/>
              <a:t>)</a:t>
            </a:r>
          </a:p>
        </p:txBody>
      </p:sp>
      <p:sp>
        <p:nvSpPr>
          <p:cNvPr id="3" name="TextBox 2">
            <a:extLst>
              <a:ext uri="{FF2B5EF4-FFF2-40B4-BE49-F238E27FC236}">
                <a16:creationId xmlns:a16="http://schemas.microsoft.com/office/drawing/2014/main" id="{111C38BB-F56F-476A-851E-144173B54FD5}"/>
              </a:ext>
            </a:extLst>
          </p:cNvPr>
          <p:cNvSpPr txBox="1"/>
          <p:nvPr/>
        </p:nvSpPr>
        <p:spPr>
          <a:xfrm>
            <a:off x="445476" y="1664677"/>
            <a:ext cx="4032738" cy="523220"/>
          </a:xfrm>
          <a:prstGeom prst="rect">
            <a:avLst/>
          </a:prstGeom>
          <a:noFill/>
        </p:spPr>
        <p:txBody>
          <a:bodyPr wrap="square" rtlCol="0">
            <a:spAutoFit/>
          </a:bodyPr>
          <a:lstStyle/>
          <a:p>
            <a:r>
              <a:rPr lang="en-US" sz="2800" b="1" dirty="0">
                <a:latin typeface="Microsoft Tai Le" panose="020B0502040204020203" pitchFamily="34" charset="0"/>
                <a:cs typeface="Microsoft Tai Le" panose="020B0502040204020203" pitchFamily="34" charset="0"/>
              </a:rPr>
              <a:t>Visualization</a:t>
            </a:r>
          </a:p>
        </p:txBody>
      </p:sp>
      <p:pic>
        <p:nvPicPr>
          <p:cNvPr id="1026" name="Picture 2">
            <a:extLst>
              <a:ext uri="{FF2B5EF4-FFF2-40B4-BE49-F238E27FC236}">
                <a16:creationId xmlns:a16="http://schemas.microsoft.com/office/drawing/2014/main" id="{6AD26469-2656-4F1B-AB00-979428A37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7322" y="1664677"/>
            <a:ext cx="7901355" cy="45251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57EAA6-5CE0-4C63-96BC-4F50965890D0}"/>
              </a:ext>
            </a:extLst>
          </p:cNvPr>
          <p:cNvSpPr txBox="1"/>
          <p:nvPr/>
        </p:nvSpPr>
        <p:spPr>
          <a:xfrm>
            <a:off x="656494" y="6170880"/>
            <a:ext cx="8464061" cy="400110"/>
          </a:xfrm>
          <a:prstGeom prst="rect">
            <a:avLst/>
          </a:prstGeom>
          <a:noFill/>
        </p:spPr>
        <p:txBody>
          <a:bodyPr wrap="square" rtlCol="0">
            <a:spAutoFit/>
          </a:bodyPr>
          <a:lstStyle/>
          <a:p>
            <a:r>
              <a:rPr lang="en-US" sz="2000" dirty="0">
                <a:latin typeface="Microsoft Tai Le" panose="020B0502040204020203" pitchFamily="34" charset="0"/>
                <a:cs typeface="Microsoft Tai Le" panose="020B0502040204020203" pitchFamily="34" charset="0"/>
              </a:rPr>
              <a:t>Boxplots to detect outliers and variations</a:t>
            </a:r>
          </a:p>
        </p:txBody>
      </p:sp>
    </p:spTree>
    <p:extLst>
      <p:ext uri="{BB962C8B-B14F-4D97-AF65-F5344CB8AC3E}">
        <p14:creationId xmlns:p14="http://schemas.microsoft.com/office/powerpoint/2010/main" val="2080577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CDF35-7AF0-4160-B85B-682B6AF2AB81}"/>
              </a:ext>
            </a:extLst>
          </p:cNvPr>
          <p:cNvSpPr>
            <a:spLocks noGrp="1"/>
          </p:cNvSpPr>
          <p:nvPr>
            <p:ph type="title"/>
          </p:nvPr>
        </p:nvSpPr>
        <p:spPr>
          <a:xfrm>
            <a:off x="515815" y="867507"/>
            <a:ext cx="10620772" cy="405005"/>
          </a:xfrm>
        </p:spPr>
        <p:txBody>
          <a:bodyPr>
            <a:noAutofit/>
          </a:bodyPr>
          <a:lstStyle/>
          <a:p>
            <a:r>
              <a:rPr lang="en-US" sz="2800" dirty="0"/>
              <a:t>Summary statistics</a:t>
            </a:r>
          </a:p>
        </p:txBody>
      </p:sp>
      <p:sp>
        <p:nvSpPr>
          <p:cNvPr id="3" name="Rectangle 2">
            <a:extLst>
              <a:ext uri="{FF2B5EF4-FFF2-40B4-BE49-F238E27FC236}">
                <a16:creationId xmlns:a16="http://schemas.microsoft.com/office/drawing/2014/main" id="{CCEB8BAA-DB6B-429E-B590-C3F19C428C64}"/>
              </a:ext>
            </a:extLst>
          </p:cNvPr>
          <p:cNvSpPr/>
          <p:nvPr/>
        </p:nvSpPr>
        <p:spPr>
          <a:xfrm>
            <a:off x="-3024554" y="3024554"/>
            <a:ext cx="11898755" cy="369332"/>
          </a:xfrm>
          <a:prstGeom prst="rect">
            <a:avLst/>
          </a:prstGeom>
        </p:spPr>
        <p:txBody>
          <a:bodyPr wrap="square">
            <a:spAutoFit/>
          </a:bodyPr>
          <a:lstStyle/>
          <a:p>
            <a:endParaRPr lang="en-US" dirty="0"/>
          </a:p>
        </p:txBody>
      </p:sp>
      <p:graphicFrame>
        <p:nvGraphicFramePr>
          <p:cNvPr id="10" name="Table 10">
            <a:extLst>
              <a:ext uri="{FF2B5EF4-FFF2-40B4-BE49-F238E27FC236}">
                <a16:creationId xmlns:a16="http://schemas.microsoft.com/office/drawing/2014/main" id="{F8BC9959-9BDF-4DB1-8BA0-EECB91619A8C}"/>
              </a:ext>
            </a:extLst>
          </p:cNvPr>
          <p:cNvGraphicFramePr>
            <a:graphicFrameLocks noGrp="1"/>
          </p:cNvGraphicFramePr>
          <p:nvPr>
            <p:extLst>
              <p:ext uri="{D42A27DB-BD31-4B8C-83A1-F6EECF244321}">
                <p14:modId xmlns:p14="http://schemas.microsoft.com/office/powerpoint/2010/main" val="3803885089"/>
              </p:ext>
            </p:extLst>
          </p:nvPr>
        </p:nvGraphicFramePr>
        <p:xfrm>
          <a:off x="552479" y="1272512"/>
          <a:ext cx="11087041" cy="5280802"/>
        </p:xfrm>
        <a:graphic>
          <a:graphicData uri="http://schemas.openxmlformats.org/drawingml/2006/table">
            <a:tbl>
              <a:tblPr firstRow="1" bandRow="1">
                <a:tableStyleId>{AF606853-7671-496A-8E4F-DF71F8EC918B}</a:tableStyleId>
              </a:tblPr>
              <a:tblGrid>
                <a:gridCol w="1693985">
                  <a:extLst>
                    <a:ext uri="{9D8B030D-6E8A-4147-A177-3AD203B41FA5}">
                      <a16:colId xmlns:a16="http://schemas.microsoft.com/office/drawing/2014/main" val="2557325618"/>
                    </a:ext>
                  </a:extLst>
                </a:gridCol>
                <a:gridCol w="1270000">
                  <a:extLst>
                    <a:ext uri="{9D8B030D-6E8A-4147-A177-3AD203B41FA5}">
                      <a16:colId xmlns:a16="http://schemas.microsoft.com/office/drawing/2014/main" val="3416881268"/>
                    </a:ext>
                  </a:extLst>
                </a:gridCol>
                <a:gridCol w="1326662">
                  <a:extLst>
                    <a:ext uri="{9D8B030D-6E8A-4147-A177-3AD203B41FA5}">
                      <a16:colId xmlns:a16="http://schemas.microsoft.com/office/drawing/2014/main" val="2758952851"/>
                    </a:ext>
                  </a:extLst>
                </a:gridCol>
                <a:gridCol w="1543538">
                  <a:extLst>
                    <a:ext uri="{9D8B030D-6E8A-4147-A177-3AD203B41FA5}">
                      <a16:colId xmlns:a16="http://schemas.microsoft.com/office/drawing/2014/main" val="125695172"/>
                    </a:ext>
                  </a:extLst>
                </a:gridCol>
                <a:gridCol w="762000">
                  <a:extLst>
                    <a:ext uri="{9D8B030D-6E8A-4147-A177-3AD203B41FA5}">
                      <a16:colId xmlns:a16="http://schemas.microsoft.com/office/drawing/2014/main" val="1623537889"/>
                    </a:ext>
                  </a:extLst>
                </a:gridCol>
                <a:gridCol w="1397000">
                  <a:extLst>
                    <a:ext uri="{9D8B030D-6E8A-4147-A177-3AD203B41FA5}">
                      <a16:colId xmlns:a16="http://schemas.microsoft.com/office/drawing/2014/main" val="1524488857"/>
                    </a:ext>
                  </a:extLst>
                </a:gridCol>
                <a:gridCol w="1117600">
                  <a:extLst>
                    <a:ext uri="{9D8B030D-6E8A-4147-A177-3AD203B41FA5}">
                      <a16:colId xmlns:a16="http://schemas.microsoft.com/office/drawing/2014/main" val="400072640"/>
                    </a:ext>
                  </a:extLst>
                </a:gridCol>
                <a:gridCol w="1066800">
                  <a:extLst>
                    <a:ext uri="{9D8B030D-6E8A-4147-A177-3AD203B41FA5}">
                      <a16:colId xmlns:a16="http://schemas.microsoft.com/office/drawing/2014/main" val="2712189742"/>
                    </a:ext>
                  </a:extLst>
                </a:gridCol>
                <a:gridCol w="909456">
                  <a:extLst>
                    <a:ext uri="{9D8B030D-6E8A-4147-A177-3AD203B41FA5}">
                      <a16:colId xmlns:a16="http://schemas.microsoft.com/office/drawing/2014/main" val="2835436421"/>
                    </a:ext>
                  </a:extLst>
                </a:gridCol>
              </a:tblGrid>
              <a:tr h="503673">
                <a:tc>
                  <a:txBody>
                    <a:bodyPr/>
                    <a:lstStyle/>
                    <a:p>
                      <a:endParaRPr lang="en-US" dirty="0">
                        <a:solidFill>
                          <a:schemeClr val="tx1"/>
                        </a:solidFill>
                      </a:endParaRPr>
                    </a:p>
                  </a:txBody>
                  <a:tcPr/>
                </a:tc>
                <a:tc>
                  <a:txBody>
                    <a:bodyPr/>
                    <a:lstStyle/>
                    <a:p>
                      <a:pPr algn="ctr"/>
                      <a:r>
                        <a:rPr lang="en-US" b="0" dirty="0">
                          <a:latin typeface="Arial Black" panose="020B0A04020102020204" pitchFamily="34" charset="0"/>
                        </a:rPr>
                        <a:t>  </a:t>
                      </a:r>
                      <a:r>
                        <a:rPr lang="en-US" sz="2000" b="0" dirty="0">
                          <a:latin typeface="Arial Black" panose="020B0A04020102020204" pitchFamily="34" charset="0"/>
                        </a:rPr>
                        <a:t>Count</a:t>
                      </a:r>
                    </a:p>
                  </a:txBody>
                  <a:tcPr/>
                </a:tc>
                <a:tc>
                  <a:txBody>
                    <a:bodyPr/>
                    <a:lstStyle/>
                    <a:p>
                      <a:pPr algn="ctr"/>
                      <a:r>
                        <a:rPr lang="en-US" sz="2000" b="0" dirty="0">
                          <a:latin typeface="Arial Black" panose="020B0A04020102020204" pitchFamily="34" charset="0"/>
                        </a:rPr>
                        <a:t>Mean</a:t>
                      </a:r>
                    </a:p>
                  </a:txBody>
                  <a:tcPr/>
                </a:tc>
                <a:tc>
                  <a:txBody>
                    <a:bodyPr/>
                    <a:lstStyle/>
                    <a:p>
                      <a:pPr algn="ctr"/>
                      <a:r>
                        <a:rPr lang="en-US" sz="2000" b="0" dirty="0">
                          <a:latin typeface="Arial Black" panose="020B0A04020102020204" pitchFamily="34" charset="0"/>
                        </a:rPr>
                        <a:t>std</a:t>
                      </a:r>
                    </a:p>
                  </a:txBody>
                  <a:tcPr/>
                </a:tc>
                <a:tc>
                  <a:txBody>
                    <a:bodyPr/>
                    <a:lstStyle/>
                    <a:p>
                      <a:pPr algn="ctr"/>
                      <a:r>
                        <a:rPr lang="en-US" sz="2000" b="0" dirty="0">
                          <a:latin typeface="Arial Black" panose="020B0A04020102020204" pitchFamily="34" charset="0"/>
                        </a:rPr>
                        <a:t>min</a:t>
                      </a:r>
                    </a:p>
                  </a:txBody>
                  <a:tcPr/>
                </a:tc>
                <a:tc>
                  <a:txBody>
                    <a:bodyPr/>
                    <a:lstStyle/>
                    <a:p>
                      <a:pPr algn="ctr"/>
                      <a:r>
                        <a:rPr lang="en-US" b="0" dirty="0">
                          <a:latin typeface="Arial Black" panose="020B0A04020102020204" pitchFamily="34" charset="0"/>
                        </a:rPr>
                        <a:t>25%</a:t>
                      </a:r>
                    </a:p>
                  </a:txBody>
                  <a:tcPr/>
                </a:tc>
                <a:tc>
                  <a:txBody>
                    <a:bodyPr/>
                    <a:lstStyle/>
                    <a:p>
                      <a:pPr algn="ctr"/>
                      <a:r>
                        <a:rPr lang="en-US" b="0" dirty="0">
                          <a:latin typeface="Arial Black" panose="020B0A04020102020204" pitchFamily="34" charset="0"/>
                        </a:rPr>
                        <a:t>50%</a:t>
                      </a:r>
                    </a:p>
                  </a:txBody>
                  <a:tcPr/>
                </a:tc>
                <a:tc>
                  <a:txBody>
                    <a:bodyPr/>
                    <a:lstStyle/>
                    <a:p>
                      <a:pPr algn="ctr"/>
                      <a:r>
                        <a:rPr lang="en-US" b="0" dirty="0">
                          <a:latin typeface="Arial Black" panose="020B0A04020102020204" pitchFamily="34" charset="0"/>
                        </a:rPr>
                        <a:t>75%</a:t>
                      </a:r>
                    </a:p>
                  </a:txBody>
                  <a:tcPr/>
                </a:tc>
                <a:tc>
                  <a:txBody>
                    <a:bodyPr/>
                    <a:lstStyle/>
                    <a:p>
                      <a:pPr algn="ctr"/>
                      <a:r>
                        <a:rPr lang="en-US" b="0" dirty="0">
                          <a:latin typeface="Arial Black" panose="020B0A04020102020204" pitchFamily="34" charset="0"/>
                        </a:rPr>
                        <a:t>max</a:t>
                      </a:r>
                    </a:p>
                  </a:txBody>
                  <a:tcPr/>
                </a:tc>
                <a:extLst>
                  <a:ext uri="{0D108BD9-81ED-4DB2-BD59-A6C34878D82A}">
                    <a16:rowId xmlns:a16="http://schemas.microsoft.com/office/drawing/2014/main" val="1909685852"/>
                  </a:ext>
                </a:extLst>
              </a:tr>
              <a:tr h="503673">
                <a:tc>
                  <a:txBody>
                    <a:bodyPr/>
                    <a:lstStyle/>
                    <a:p>
                      <a:r>
                        <a:rPr lang="en-US" sz="2000" dirty="0">
                          <a:solidFill>
                            <a:schemeClr val="tx1"/>
                          </a:solidFill>
                          <a:latin typeface="Arial Black" panose="020B0A04020102020204" pitchFamily="34" charset="0"/>
                          <a:cs typeface="Microsoft Tai Le" panose="020B0502040204020203" pitchFamily="34" charset="0"/>
                        </a:rPr>
                        <a:t>Age</a:t>
                      </a:r>
                    </a:p>
                  </a:txBody>
                  <a:tcPr/>
                </a:tc>
                <a:tc>
                  <a:txBody>
                    <a:bodyPr/>
                    <a:lstStyle/>
                    <a:p>
                      <a:pPr algn="ctr"/>
                      <a:r>
                        <a:rPr lang="en-US" sz="2000" dirty="0"/>
                        <a:t>50000.0</a:t>
                      </a:r>
                    </a:p>
                  </a:txBody>
                  <a:tcPr/>
                </a:tc>
                <a:tc>
                  <a:txBody>
                    <a:bodyPr/>
                    <a:lstStyle/>
                    <a:p>
                      <a:pPr algn="ctr"/>
                      <a:r>
                        <a:rPr lang="en-US" sz="2000" dirty="0"/>
                        <a:t>49.02782</a:t>
                      </a:r>
                    </a:p>
                  </a:txBody>
                  <a:tcPr/>
                </a:tc>
                <a:tc>
                  <a:txBody>
                    <a:bodyPr/>
                    <a:lstStyle/>
                    <a:p>
                      <a:pPr algn="ctr"/>
                      <a:r>
                        <a:rPr lang="en-US" sz="2000" dirty="0"/>
                        <a:t>18.170405</a:t>
                      </a:r>
                    </a:p>
                  </a:txBody>
                  <a:tcPr/>
                </a:tc>
                <a:tc>
                  <a:txBody>
                    <a:bodyPr/>
                    <a:lstStyle/>
                    <a:p>
                      <a:pPr algn="ctr"/>
                      <a:r>
                        <a:rPr lang="en-US" sz="2000" dirty="0"/>
                        <a:t>18.0</a:t>
                      </a:r>
                    </a:p>
                  </a:txBody>
                  <a:tcPr/>
                </a:tc>
                <a:tc>
                  <a:txBody>
                    <a:bodyPr/>
                    <a:lstStyle/>
                    <a:p>
                      <a:pPr algn="ctr"/>
                      <a:r>
                        <a:rPr lang="en-US" sz="2000" dirty="0"/>
                        <a:t>33.0</a:t>
                      </a:r>
                    </a:p>
                  </a:txBody>
                  <a:tcPr/>
                </a:tc>
                <a:tc>
                  <a:txBody>
                    <a:bodyPr/>
                    <a:lstStyle/>
                    <a:p>
                      <a:pPr algn="ctr"/>
                      <a:r>
                        <a:rPr lang="en-US" sz="2000" dirty="0"/>
                        <a:t>49.0</a:t>
                      </a:r>
                    </a:p>
                  </a:txBody>
                  <a:tcPr/>
                </a:tc>
                <a:tc>
                  <a:txBody>
                    <a:bodyPr/>
                    <a:lstStyle/>
                    <a:p>
                      <a:pPr algn="ctr"/>
                      <a:r>
                        <a:rPr lang="en-US" sz="2000" dirty="0"/>
                        <a:t>65.0</a:t>
                      </a:r>
                    </a:p>
                  </a:txBody>
                  <a:tcPr/>
                </a:tc>
                <a:tc>
                  <a:txBody>
                    <a:bodyPr/>
                    <a:lstStyle/>
                    <a:p>
                      <a:pPr algn="ctr"/>
                      <a:r>
                        <a:rPr lang="en-US" sz="2000" dirty="0"/>
                        <a:t>80.0</a:t>
                      </a:r>
                    </a:p>
                  </a:txBody>
                  <a:tcPr/>
                </a:tc>
                <a:extLst>
                  <a:ext uri="{0D108BD9-81ED-4DB2-BD59-A6C34878D82A}">
                    <a16:rowId xmlns:a16="http://schemas.microsoft.com/office/drawing/2014/main" val="2500489527"/>
                  </a:ext>
                </a:extLst>
              </a:tr>
              <a:tr h="653623">
                <a:tc>
                  <a:txBody>
                    <a:bodyPr/>
                    <a:lstStyle/>
                    <a:p>
                      <a:r>
                        <a:rPr lang="en-US" dirty="0">
                          <a:solidFill>
                            <a:schemeClr val="tx1"/>
                          </a:solidFill>
                          <a:latin typeface="Arial Black" panose="020B0A04020102020204" pitchFamily="34" charset="0"/>
                        </a:rPr>
                        <a:t>Income Rate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p>
                      <a:pPr algn="ctr"/>
                      <a:endParaRPr lang="en-US" sz="2000" dirty="0"/>
                    </a:p>
                  </a:txBody>
                  <a:tcPr/>
                </a:tc>
                <a:tc>
                  <a:txBody>
                    <a:bodyPr/>
                    <a:lstStyle/>
                    <a:p>
                      <a:pPr algn="ctr"/>
                      <a:r>
                        <a:rPr lang="en-US" sz="2000" dirty="0"/>
                        <a:t>2.49842</a:t>
                      </a:r>
                    </a:p>
                  </a:txBody>
                  <a:tcPr/>
                </a:tc>
                <a:tc>
                  <a:txBody>
                    <a:bodyPr/>
                    <a:lstStyle/>
                    <a:p>
                      <a:pPr algn="ctr"/>
                      <a:r>
                        <a:rPr lang="en-US" sz="2000" dirty="0"/>
                        <a:t>1.708009</a:t>
                      </a:r>
                    </a:p>
                  </a:txBody>
                  <a:tcPr/>
                </a:tc>
                <a:tc>
                  <a:txBody>
                    <a:bodyPr/>
                    <a:lstStyle/>
                    <a:p>
                      <a:pPr algn="ctr"/>
                      <a:r>
                        <a:rPr lang="en-US" sz="2000" dirty="0"/>
                        <a:t>0.0</a:t>
                      </a:r>
                    </a:p>
                  </a:txBody>
                  <a:tcPr/>
                </a:tc>
                <a:tc>
                  <a:txBody>
                    <a:bodyPr/>
                    <a:lstStyle/>
                    <a:p>
                      <a:pPr algn="ctr"/>
                      <a:r>
                        <a:rPr lang="en-US" sz="2000" dirty="0"/>
                        <a:t>1.0</a:t>
                      </a:r>
                    </a:p>
                  </a:txBody>
                  <a:tcPr/>
                </a:tc>
                <a:tc>
                  <a:txBody>
                    <a:bodyPr/>
                    <a:lstStyle/>
                    <a:p>
                      <a:pPr algn="ctr"/>
                      <a:r>
                        <a:rPr lang="en-US" sz="2000" dirty="0"/>
                        <a:t>3.0</a:t>
                      </a:r>
                    </a:p>
                  </a:txBody>
                  <a:tcPr/>
                </a:tc>
                <a:tc>
                  <a:txBody>
                    <a:bodyPr/>
                    <a:lstStyle/>
                    <a:p>
                      <a:pPr algn="ctr"/>
                      <a:r>
                        <a:rPr lang="en-US" sz="2000" dirty="0"/>
                        <a:t>4.0</a:t>
                      </a:r>
                    </a:p>
                  </a:txBody>
                  <a:tcPr/>
                </a:tc>
                <a:tc>
                  <a:txBody>
                    <a:bodyPr/>
                    <a:lstStyle/>
                    <a:p>
                      <a:pPr algn="ctr"/>
                      <a:r>
                        <a:rPr lang="en-US" sz="2000" dirty="0"/>
                        <a:t>5.0</a:t>
                      </a:r>
                    </a:p>
                  </a:txBody>
                  <a:tcPr/>
                </a:tc>
                <a:extLst>
                  <a:ext uri="{0D108BD9-81ED-4DB2-BD59-A6C34878D82A}">
                    <a16:rowId xmlns:a16="http://schemas.microsoft.com/office/drawing/2014/main" val="2908825984"/>
                  </a:ext>
                </a:extLst>
              </a:tr>
              <a:tr h="711226">
                <a:tc>
                  <a:txBody>
                    <a:bodyPr/>
                    <a:lstStyle/>
                    <a:p>
                      <a:r>
                        <a:rPr lang="en-US" dirty="0">
                          <a:solidFill>
                            <a:schemeClr val="tx1"/>
                          </a:solidFill>
                          <a:latin typeface="Arial Black" panose="020B0A04020102020204" pitchFamily="34" charset="0"/>
                        </a:rPr>
                        <a:t>Depression Score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txBody>
                  <a:tcPr/>
                </a:tc>
                <a:tc>
                  <a:txBody>
                    <a:bodyPr/>
                    <a:lstStyle/>
                    <a:p>
                      <a:pPr algn="ctr"/>
                      <a:r>
                        <a:rPr lang="en-US" sz="2000" dirty="0"/>
                        <a:t>50.06234</a:t>
                      </a:r>
                    </a:p>
                  </a:txBody>
                  <a:tcPr/>
                </a:tc>
                <a:tc>
                  <a:txBody>
                    <a:bodyPr/>
                    <a:lstStyle/>
                    <a:p>
                      <a:pPr algn="ctr"/>
                      <a:r>
                        <a:rPr lang="en-US" sz="2000" dirty="0"/>
                        <a:t>29.106625</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0.0</a:t>
                      </a:r>
                    </a:p>
                    <a:p>
                      <a:pPr algn="ctr"/>
                      <a:endParaRPr lang="en-US" sz="2000" dirty="0"/>
                    </a:p>
                  </a:txBody>
                  <a:tcPr/>
                </a:tc>
                <a:tc>
                  <a:txBody>
                    <a:bodyPr/>
                    <a:lstStyle/>
                    <a:p>
                      <a:pPr algn="ctr"/>
                      <a:r>
                        <a:rPr lang="en-US" sz="2000" dirty="0"/>
                        <a:t>25.0</a:t>
                      </a:r>
                    </a:p>
                  </a:txBody>
                  <a:tcPr/>
                </a:tc>
                <a:tc>
                  <a:txBody>
                    <a:bodyPr/>
                    <a:lstStyle/>
                    <a:p>
                      <a:pPr algn="ctr"/>
                      <a:r>
                        <a:rPr lang="en-US" sz="2000" dirty="0"/>
                        <a:t>50.0</a:t>
                      </a:r>
                    </a:p>
                  </a:txBody>
                  <a:tcPr/>
                </a:tc>
                <a:tc>
                  <a:txBody>
                    <a:bodyPr/>
                    <a:lstStyle/>
                    <a:p>
                      <a:pPr algn="ctr"/>
                      <a:r>
                        <a:rPr lang="en-US" sz="2000" dirty="0"/>
                        <a:t>75.0</a:t>
                      </a:r>
                    </a:p>
                  </a:txBody>
                  <a:tcPr/>
                </a:tc>
                <a:tc>
                  <a:txBody>
                    <a:bodyPr/>
                    <a:lstStyle/>
                    <a:p>
                      <a:pPr algn="ctr"/>
                      <a:r>
                        <a:rPr lang="en-US" sz="2000" dirty="0"/>
                        <a:t>100.0</a:t>
                      </a:r>
                    </a:p>
                  </a:txBody>
                  <a:tcPr/>
                </a:tc>
                <a:extLst>
                  <a:ext uri="{0D108BD9-81ED-4DB2-BD59-A6C34878D82A}">
                    <a16:rowId xmlns:a16="http://schemas.microsoft.com/office/drawing/2014/main" val="4115063678"/>
                  </a:ext>
                </a:extLst>
              </a:tr>
              <a:tr h="653623">
                <a:tc>
                  <a:txBody>
                    <a:bodyPr/>
                    <a:lstStyle/>
                    <a:p>
                      <a:r>
                        <a:rPr lang="en-US" dirty="0">
                          <a:solidFill>
                            <a:schemeClr val="tx1"/>
                          </a:solidFill>
                          <a:latin typeface="Arial Black" panose="020B0A04020102020204" pitchFamily="34" charset="0"/>
                        </a:rPr>
                        <a:t>Anxiety Score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p>
                      <a:pPr algn="ctr"/>
                      <a:endParaRPr lang="en-US" sz="2000" dirty="0"/>
                    </a:p>
                  </a:txBody>
                  <a:tcPr/>
                </a:tc>
                <a:tc>
                  <a:txBody>
                    <a:bodyPr/>
                    <a:lstStyle/>
                    <a:p>
                      <a:pPr algn="ctr"/>
                      <a:r>
                        <a:rPr lang="en-US" sz="2000" dirty="0"/>
                        <a:t>49.89174</a:t>
                      </a:r>
                    </a:p>
                  </a:txBody>
                  <a:tcPr/>
                </a:tc>
                <a:tc>
                  <a:txBody>
                    <a:bodyPr/>
                    <a:lstStyle/>
                    <a:p>
                      <a:pPr algn="ctr"/>
                      <a:r>
                        <a:rPr lang="en-US" sz="2000" dirty="0"/>
                        <a:t>29.167352</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0.0</a:t>
                      </a:r>
                    </a:p>
                    <a:p>
                      <a:pPr algn="ctr"/>
                      <a:endParaRPr lang="en-US" sz="2000" dirty="0"/>
                    </a:p>
                  </a:txBody>
                  <a:tcPr/>
                </a:tc>
                <a:tc>
                  <a:txBody>
                    <a:bodyPr/>
                    <a:lstStyle/>
                    <a:p>
                      <a:pPr algn="ctr"/>
                      <a:r>
                        <a:rPr lang="en-US" sz="2000" dirty="0"/>
                        <a:t>25.0</a:t>
                      </a:r>
                    </a:p>
                  </a:txBody>
                  <a:tcPr/>
                </a:tc>
                <a:tc>
                  <a:txBody>
                    <a:bodyPr/>
                    <a:lstStyle/>
                    <a:p>
                      <a:pPr algn="ctr"/>
                      <a:r>
                        <a:rPr lang="en-US" sz="2000" dirty="0"/>
                        <a:t>50.0</a:t>
                      </a:r>
                    </a:p>
                  </a:txBody>
                  <a:tcPr/>
                </a:tc>
                <a:tc>
                  <a:txBody>
                    <a:bodyPr/>
                    <a:lstStyle/>
                    <a:p>
                      <a:pPr algn="ctr"/>
                      <a:r>
                        <a:rPr lang="en-US" sz="2000" dirty="0"/>
                        <a:t>75.0</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100.0</a:t>
                      </a:r>
                    </a:p>
                    <a:p>
                      <a:pPr algn="ctr"/>
                      <a:endParaRPr lang="en-US" sz="2000" dirty="0"/>
                    </a:p>
                  </a:txBody>
                  <a:tcPr/>
                </a:tc>
                <a:extLst>
                  <a:ext uri="{0D108BD9-81ED-4DB2-BD59-A6C34878D82A}">
                    <a16:rowId xmlns:a16="http://schemas.microsoft.com/office/drawing/2014/main" val="4099206947"/>
                  </a:ext>
                </a:extLst>
              </a:tr>
              <a:tr h="653623">
                <a:tc>
                  <a:txBody>
                    <a:bodyPr/>
                    <a:lstStyle/>
                    <a:p>
                      <a:r>
                        <a:rPr lang="en-US" dirty="0">
                          <a:solidFill>
                            <a:schemeClr val="tx1"/>
                          </a:solidFill>
                          <a:latin typeface="Arial Black" panose="020B0A04020102020204" pitchFamily="34" charset="0"/>
                        </a:rPr>
                        <a:t>Stress Score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p>
                      <a:pPr algn="ctr"/>
                      <a:endParaRPr lang="en-US" sz="2000" dirty="0"/>
                    </a:p>
                  </a:txBody>
                  <a:tcPr/>
                </a:tc>
                <a:tc>
                  <a:txBody>
                    <a:bodyPr/>
                    <a:lstStyle/>
                    <a:p>
                      <a:pPr algn="ctr"/>
                      <a:r>
                        <a:rPr lang="en-US" sz="2000" dirty="0"/>
                        <a:t>49.49934</a:t>
                      </a:r>
                    </a:p>
                  </a:txBody>
                  <a:tcPr/>
                </a:tc>
                <a:tc>
                  <a:txBody>
                    <a:bodyPr/>
                    <a:lstStyle/>
                    <a:p>
                      <a:pPr algn="ctr"/>
                      <a:r>
                        <a:rPr lang="en-US" sz="2000" dirty="0"/>
                        <a:t>32.865281</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0.0</a:t>
                      </a:r>
                    </a:p>
                    <a:p>
                      <a:pPr algn="ctr"/>
                      <a:endParaRPr lang="en-US" sz="2000" dirty="0"/>
                    </a:p>
                  </a:txBody>
                  <a:tcPr/>
                </a:tc>
                <a:tc>
                  <a:txBody>
                    <a:bodyPr/>
                    <a:lstStyle/>
                    <a:p>
                      <a:pPr algn="ctr"/>
                      <a:r>
                        <a:rPr lang="en-US" sz="2000" dirty="0"/>
                        <a:t>20.0</a:t>
                      </a:r>
                    </a:p>
                  </a:txBody>
                  <a:tcPr/>
                </a:tc>
                <a:tc>
                  <a:txBody>
                    <a:bodyPr/>
                    <a:lstStyle/>
                    <a:p>
                      <a:pPr algn="ctr"/>
                      <a:r>
                        <a:rPr lang="en-US" sz="2000" dirty="0"/>
                        <a:t>49.0</a:t>
                      </a:r>
                    </a:p>
                  </a:txBody>
                  <a:tcPr/>
                </a:tc>
                <a:tc>
                  <a:txBody>
                    <a:bodyPr/>
                    <a:lstStyle/>
                    <a:p>
                      <a:pPr algn="ctr"/>
                      <a:r>
                        <a:rPr lang="en-US" sz="2000" dirty="0"/>
                        <a:t>78.0</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100.0</a:t>
                      </a:r>
                    </a:p>
                    <a:p>
                      <a:pPr algn="ctr"/>
                      <a:endParaRPr lang="en-US" sz="2000" dirty="0"/>
                    </a:p>
                  </a:txBody>
                  <a:tcPr/>
                </a:tc>
                <a:extLst>
                  <a:ext uri="{0D108BD9-81ED-4DB2-BD59-A6C34878D82A}">
                    <a16:rowId xmlns:a16="http://schemas.microsoft.com/office/drawing/2014/main" val="437478737"/>
                  </a:ext>
                </a:extLst>
              </a:tr>
              <a:tr h="758070">
                <a:tc>
                  <a:txBody>
                    <a:bodyPr/>
                    <a:lstStyle/>
                    <a:p>
                      <a:r>
                        <a:rPr lang="en-US" sz="1800" dirty="0">
                          <a:solidFill>
                            <a:schemeClr val="tx1"/>
                          </a:solidFill>
                          <a:latin typeface="Arial Black" panose="020B0A04020102020204" pitchFamily="34" charset="0"/>
                        </a:rPr>
                        <a:t>Suicide Risk Score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p>
                      <a:pPr algn="ctr"/>
                      <a:endParaRPr lang="en-US" sz="2000" dirty="0"/>
                    </a:p>
                  </a:txBody>
                  <a:tcPr/>
                </a:tc>
                <a:tc>
                  <a:txBody>
                    <a:bodyPr/>
                    <a:lstStyle/>
                    <a:p>
                      <a:pPr algn="ctr"/>
                      <a:r>
                        <a:rPr lang="en-US" sz="2000" dirty="0"/>
                        <a:t>49.47904</a:t>
                      </a:r>
                    </a:p>
                  </a:txBody>
                  <a:tcPr/>
                </a:tc>
                <a:tc>
                  <a:txBody>
                    <a:bodyPr/>
                    <a:lstStyle/>
                    <a:p>
                      <a:pPr algn="ctr"/>
                      <a:r>
                        <a:rPr lang="en-US" sz="2000" dirty="0"/>
                        <a:t>22.695256</a:t>
                      </a:r>
                    </a:p>
                  </a:txBody>
                  <a:tcPr/>
                </a:tc>
                <a:tc>
                  <a:txBody>
                    <a:bodyPr/>
                    <a:lstStyle/>
                    <a:p>
                      <a:pPr algn="ctr"/>
                      <a:r>
                        <a:rPr lang="en-US" sz="2000" dirty="0"/>
                        <a:t>0.0</a:t>
                      </a:r>
                    </a:p>
                  </a:txBody>
                  <a:tcPr/>
                </a:tc>
                <a:tc>
                  <a:txBody>
                    <a:bodyPr/>
                    <a:lstStyle/>
                    <a:p>
                      <a:pPr algn="ctr"/>
                      <a:r>
                        <a:rPr lang="en-US" sz="2000" dirty="0"/>
                        <a:t>33.0</a:t>
                      </a:r>
                    </a:p>
                  </a:txBody>
                  <a:tcPr/>
                </a:tc>
                <a:tc>
                  <a:txBody>
                    <a:bodyPr/>
                    <a:lstStyle/>
                    <a:p>
                      <a:pPr algn="ctr"/>
                      <a:r>
                        <a:rPr lang="en-US" sz="2000" dirty="0"/>
                        <a:t>50.0</a:t>
                      </a:r>
                    </a:p>
                  </a:txBody>
                  <a:tcPr/>
                </a:tc>
                <a:tc>
                  <a:txBody>
                    <a:bodyPr/>
                    <a:lstStyle/>
                    <a:p>
                      <a:pPr algn="ctr"/>
                      <a:r>
                        <a:rPr lang="en-US" sz="2000" dirty="0"/>
                        <a:t>66.0</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100.0</a:t>
                      </a:r>
                    </a:p>
                    <a:p>
                      <a:pPr algn="ctr"/>
                      <a:endParaRPr lang="en-US" sz="2000" dirty="0"/>
                    </a:p>
                  </a:txBody>
                  <a:tcPr/>
                </a:tc>
                <a:extLst>
                  <a:ext uri="{0D108BD9-81ED-4DB2-BD59-A6C34878D82A}">
                    <a16:rowId xmlns:a16="http://schemas.microsoft.com/office/drawing/2014/main" val="1750115385"/>
                  </a:ext>
                </a:extLst>
              </a:tr>
              <a:tr h="653623">
                <a:tc>
                  <a:txBody>
                    <a:bodyPr/>
                    <a:lstStyle/>
                    <a:p>
                      <a:r>
                        <a:rPr lang="en-US" dirty="0">
                          <a:solidFill>
                            <a:schemeClr val="tx1"/>
                          </a:solidFill>
                          <a:latin typeface="Arial Black" panose="020B0A04020102020204" pitchFamily="34" charset="0"/>
                        </a:rPr>
                        <a:t>Notes Rate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50000.0</a:t>
                      </a:r>
                    </a:p>
                    <a:p>
                      <a:pPr algn="ctr"/>
                      <a:endParaRPr lang="en-US" sz="2000" dirty="0"/>
                    </a:p>
                  </a:txBody>
                  <a:tcPr/>
                </a:tc>
                <a:tc>
                  <a:txBody>
                    <a:bodyPr/>
                    <a:lstStyle/>
                    <a:p>
                      <a:pPr algn="ctr"/>
                      <a:r>
                        <a:rPr lang="en-US" sz="2000" dirty="0"/>
                        <a:t>1.22802</a:t>
                      </a:r>
                    </a:p>
                  </a:txBody>
                  <a:tcPr/>
                </a:tc>
                <a:tc>
                  <a:txBody>
                    <a:bodyPr/>
                    <a:lstStyle/>
                    <a:p>
                      <a:pPr algn="ctr"/>
                      <a:r>
                        <a:rPr lang="en-US" sz="2000" dirty="0"/>
                        <a:t>1.347228</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0.0</a:t>
                      </a:r>
                    </a:p>
                    <a:p>
                      <a:pPr algn="ctr"/>
                      <a:endParaRPr lang="en-US" sz="2000" dirty="0"/>
                    </a:p>
                  </a:txBody>
                  <a:tcPr/>
                </a:tc>
                <a:tc>
                  <a:txBody>
                    <a:bodyPr/>
                    <a:lstStyle/>
                    <a:p>
                      <a:pPr algn="ctr"/>
                      <a:r>
                        <a:rPr lang="en-US" sz="2000" dirty="0"/>
                        <a:t>0.0</a:t>
                      </a:r>
                    </a:p>
                  </a:txBody>
                  <a:tcPr/>
                </a:tc>
                <a:tc>
                  <a:txBody>
                    <a:bodyPr/>
                    <a:lstStyle/>
                    <a:p>
                      <a:pPr algn="ctr"/>
                      <a:r>
                        <a:rPr lang="en-US" sz="2000" dirty="0"/>
                        <a:t>0.0</a:t>
                      </a:r>
                    </a:p>
                  </a:txBody>
                  <a:tcPr/>
                </a:tc>
                <a:tc>
                  <a:txBody>
                    <a:bodyPr/>
                    <a:lstStyle/>
                    <a:p>
                      <a:pPr algn="ctr"/>
                      <a:r>
                        <a:rPr lang="en-US" sz="2000" dirty="0"/>
                        <a:t>3.0</a:t>
                      </a:r>
                    </a:p>
                  </a:txBody>
                  <a:tcPr/>
                </a:tc>
                <a:tc>
                  <a:txBody>
                    <a:bodyPr/>
                    <a:lstStyle/>
                    <a:p>
                      <a:pPr algn="ctr"/>
                      <a:r>
                        <a:rPr lang="en-US" sz="2000" dirty="0"/>
                        <a:t>3.0</a:t>
                      </a:r>
                    </a:p>
                  </a:txBody>
                  <a:tcPr/>
                </a:tc>
                <a:extLst>
                  <a:ext uri="{0D108BD9-81ED-4DB2-BD59-A6C34878D82A}">
                    <a16:rowId xmlns:a16="http://schemas.microsoft.com/office/drawing/2014/main" val="1271105003"/>
                  </a:ext>
                </a:extLst>
              </a:tr>
            </a:tbl>
          </a:graphicData>
        </a:graphic>
      </p:graphicFrame>
    </p:spTree>
    <p:extLst>
      <p:ext uri="{BB962C8B-B14F-4D97-AF65-F5344CB8AC3E}">
        <p14:creationId xmlns:p14="http://schemas.microsoft.com/office/powerpoint/2010/main" val="2321240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B4CFA9-F045-46F2-9A63-539367140320}"/>
              </a:ext>
            </a:extLst>
          </p:cNvPr>
          <p:cNvSpPr txBox="1"/>
          <p:nvPr/>
        </p:nvSpPr>
        <p:spPr>
          <a:xfrm>
            <a:off x="355600" y="610198"/>
            <a:ext cx="10261600" cy="584775"/>
          </a:xfrm>
          <a:prstGeom prst="rect">
            <a:avLst/>
          </a:prstGeom>
          <a:noFill/>
        </p:spPr>
        <p:txBody>
          <a:bodyPr wrap="square" rtlCol="0">
            <a:spAutoFit/>
          </a:bodyPr>
          <a:lstStyle/>
          <a:p>
            <a:r>
              <a:rPr lang="en-US" sz="3200" dirty="0">
                <a:latin typeface="+mj-lt"/>
                <a:cs typeface="Microsoft Tai Le" panose="020B0502040204020203" pitchFamily="34" charset="0"/>
              </a:rPr>
              <a:t>DATA ANALYSIS TECHNIQUES</a:t>
            </a:r>
          </a:p>
        </p:txBody>
      </p:sp>
      <p:sp>
        <p:nvSpPr>
          <p:cNvPr id="6" name="TextBox 5">
            <a:extLst>
              <a:ext uri="{FF2B5EF4-FFF2-40B4-BE49-F238E27FC236}">
                <a16:creationId xmlns:a16="http://schemas.microsoft.com/office/drawing/2014/main" id="{C7D29695-2A0C-422B-8F24-53D8AD942D66}"/>
              </a:ext>
            </a:extLst>
          </p:cNvPr>
          <p:cNvSpPr txBox="1"/>
          <p:nvPr/>
        </p:nvSpPr>
        <p:spPr>
          <a:xfrm>
            <a:off x="355600" y="1458671"/>
            <a:ext cx="9347200" cy="461665"/>
          </a:xfrm>
          <a:prstGeom prst="rect">
            <a:avLst/>
          </a:prstGeom>
          <a:noFill/>
        </p:spPr>
        <p:txBody>
          <a:bodyPr wrap="square" rtlCol="0">
            <a:spAutoFit/>
          </a:bodyPr>
          <a:lstStyle/>
          <a:p>
            <a:r>
              <a:rPr lang="en-US" sz="2400" dirty="0">
                <a:latin typeface="Arial Rounded MT Bold" panose="020F0704030504030204" pitchFamily="34" charset="0"/>
              </a:rPr>
              <a:t>Techniques Used</a:t>
            </a:r>
            <a:r>
              <a:rPr lang="en-US" dirty="0">
                <a:latin typeface="Arial Rounded MT Bold" panose="020F0704030504030204" pitchFamily="34" charset="0"/>
              </a:rPr>
              <a:t>:</a:t>
            </a:r>
          </a:p>
        </p:txBody>
      </p:sp>
      <p:sp>
        <p:nvSpPr>
          <p:cNvPr id="8" name="TextBox 7">
            <a:extLst>
              <a:ext uri="{FF2B5EF4-FFF2-40B4-BE49-F238E27FC236}">
                <a16:creationId xmlns:a16="http://schemas.microsoft.com/office/drawing/2014/main" id="{CD45F079-FF9E-4965-B5A7-A2A570E80FCD}"/>
              </a:ext>
            </a:extLst>
          </p:cNvPr>
          <p:cNvSpPr txBox="1"/>
          <p:nvPr/>
        </p:nvSpPr>
        <p:spPr>
          <a:xfrm>
            <a:off x="355600" y="2122480"/>
            <a:ext cx="7975600"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Descriptive Statistics</a:t>
            </a:r>
          </a:p>
          <a:p>
            <a:pPr marL="285750" indent="-28575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Data Visualization</a:t>
            </a:r>
          </a:p>
        </p:txBody>
      </p:sp>
      <p:sp>
        <p:nvSpPr>
          <p:cNvPr id="11" name="TextBox 10">
            <a:extLst>
              <a:ext uri="{FF2B5EF4-FFF2-40B4-BE49-F238E27FC236}">
                <a16:creationId xmlns:a16="http://schemas.microsoft.com/office/drawing/2014/main" id="{4E808A8E-F6B6-4FA6-A9E5-6A512F76A47E}"/>
              </a:ext>
            </a:extLst>
          </p:cNvPr>
          <p:cNvSpPr txBox="1"/>
          <p:nvPr/>
        </p:nvSpPr>
        <p:spPr>
          <a:xfrm>
            <a:off x="472831" y="4175003"/>
            <a:ext cx="10625992" cy="2015936"/>
          </a:xfrm>
          <a:prstGeom prst="rect">
            <a:avLst/>
          </a:prstGeom>
          <a:noFill/>
        </p:spPr>
        <p:txBody>
          <a:bodyPr wrap="square" rtlCol="0">
            <a:spAutoFit/>
          </a:bodyPr>
          <a:lstStyle/>
          <a:p>
            <a:pPr marL="457200" indent="-457200">
              <a:spcBef>
                <a:spcPts val="600"/>
              </a:spcBef>
              <a:spcAft>
                <a:spcPts val="600"/>
              </a:spcAft>
              <a:buFont typeface="+mj-lt"/>
              <a:buAutoNum type="arabicPeriod"/>
            </a:pPr>
            <a:r>
              <a:rPr lang="en-US" sz="2400" dirty="0">
                <a:latin typeface="Arial Rounded MT Bold" panose="020F0704030504030204" pitchFamily="34" charset="0"/>
                <a:cs typeface="Microsoft Tai Le" panose="020B0502040204020203" pitchFamily="34" charset="0"/>
              </a:rPr>
              <a:t>Model Choice: </a:t>
            </a:r>
            <a:r>
              <a:rPr lang="en-US" sz="2400" dirty="0">
                <a:latin typeface="Microsoft Tai Le" panose="020B0502040204020203" pitchFamily="34" charset="0"/>
                <a:cs typeface="Microsoft Tai Le" panose="020B0502040204020203" pitchFamily="34" charset="0"/>
              </a:rPr>
              <a:t>Implemented models include Logistics Regression , Decision Tree, Random Forest, KNN, Support Vector Machine, Naïve Bayes, Boosting.</a:t>
            </a:r>
          </a:p>
          <a:p>
            <a:pPr marL="457200" indent="-457200">
              <a:buFont typeface="+mj-lt"/>
              <a:buAutoNum type="arabicPeriod"/>
            </a:pPr>
            <a:r>
              <a:rPr lang="en-US" sz="2400" dirty="0">
                <a:latin typeface="Arial Rounded MT Bold" panose="020F0704030504030204" pitchFamily="34" charset="0"/>
                <a:cs typeface="Microsoft Tai Le" panose="020B0502040204020203" pitchFamily="34" charset="0"/>
              </a:rPr>
              <a:t>Training and Testing: </a:t>
            </a:r>
            <a:r>
              <a:rPr lang="en-US" sz="2400" dirty="0">
                <a:latin typeface="Microsoft Tai Le" panose="020B0502040204020203" pitchFamily="34" charset="0"/>
                <a:cs typeface="Microsoft Tai Le" panose="020B0502040204020203" pitchFamily="34" charset="0"/>
              </a:rPr>
              <a:t>Data splits into training and test sets for model validation.</a:t>
            </a:r>
          </a:p>
        </p:txBody>
      </p:sp>
      <p:sp>
        <p:nvSpPr>
          <p:cNvPr id="2" name="TextBox 1">
            <a:extLst>
              <a:ext uri="{FF2B5EF4-FFF2-40B4-BE49-F238E27FC236}">
                <a16:creationId xmlns:a16="http://schemas.microsoft.com/office/drawing/2014/main" id="{61881367-D939-47FA-8C3F-387B8EDA71EC}"/>
              </a:ext>
            </a:extLst>
          </p:cNvPr>
          <p:cNvSpPr txBox="1"/>
          <p:nvPr/>
        </p:nvSpPr>
        <p:spPr>
          <a:xfrm>
            <a:off x="355600" y="3141862"/>
            <a:ext cx="11480800" cy="1031051"/>
          </a:xfrm>
          <a:prstGeom prst="rect">
            <a:avLst/>
          </a:prstGeom>
          <a:noFill/>
        </p:spPr>
        <p:txBody>
          <a:bodyPr wrap="square" rtlCol="0">
            <a:spAutoFit/>
          </a:bodyPr>
          <a:lstStyle/>
          <a:p>
            <a:pPr>
              <a:spcBef>
                <a:spcPts val="600"/>
              </a:spcBef>
              <a:spcAft>
                <a:spcPts val="600"/>
              </a:spcAft>
            </a:pPr>
            <a:r>
              <a:rPr lang="en-US" sz="2800" dirty="0">
                <a:latin typeface="Arial Rounded MT Bold" panose="020F0704030504030204" pitchFamily="34" charset="0"/>
              </a:rPr>
              <a:t>Modelling</a:t>
            </a:r>
          </a:p>
          <a:p>
            <a:r>
              <a:rPr lang="en-US" sz="2800" dirty="0">
                <a:latin typeface="+mj-lt"/>
              </a:rPr>
              <a:t>Classification Models:        </a:t>
            </a:r>
          </a:p>
        </p:txBody>
      </p:sp>
    </p:spTree>
    <p:extLst>
      <p:ext uri="{BB962C8B-B14F-4D97-AF65-F5344CB8AC3E}">
        <p14:creationId xmlns:p14="http://schemas.microsoft.com/office/powerpoint/2010/main" val="3612653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610C2A4-0A95-4B81-BF8A-53E0CC094DB5}"/>
              </a:ext>
            </a:extLst>
          </p:cNvPr>
          <p:cNvGraphicFramePr>
            <a:graphicFrameLocks noGrp="1"/>
          </p:cNvGraphicFramePr>
          <p:nvPr>
            <p:extLst>
              <p:ext uri="{D42A27DB-BD31-4B8C-83A1-F6EECF244321}">
                <p14:modId xmlns:p14="http://schemas.microsoft.com/office/powerpoint/2010/main" val="2839624680"/>
              </p:ext>
            </p:extLst>
          </p:nvPr>
        </p:nvGraphicFramePr>
        <p:xfrm>
          <a:off x="838200" y="715435"/>
          <a:ext cx="10261599" cy="5177370"/>
        </p:xfrm>
        <a:graphic>
          <a:graphicData uri="http://schemas.openxmlformats.org/drawingml/2006/table">
            <a:tbl>
              <a:tblPr firstRow="1" bandRow="1">
                <a:tableStyleId>{AF606853-7671-496A-8E4F-DF71F8EC918B}</a:tableStyleId>
              </a:tblPr>
              <a:tblGrid>
                <a:gridCol w="3420533">
                  <a:extLst>
                    <a:ext uri="{9D8B030D-6E8A-4147-A177-3AD203B41FA5}">
                      <a16:colId xmlns:a16="http://schemas.microsoft.com/office/drawing/2014/main" val="3573554014"/>
                    </a:ext>
                  </a:extLst>
                </a:gridCol>
                <a:gridCol w="3420533">
                  <a:extLst>
                    <a:ext uri="{9D8B030D-6E8A-4147-A177-3AD203B41FA5}">
                      <a16:colId xmlns:a16="http://schemas.microsoft.com/office/drawing/2014/main" val="3908912791"/>
                    </a:ext>
                  </a:extLst>
                </a:gridCol>
                <a:gridCol w="3420533">
                  <a:extLst>
                    <a:ext uri="{9D8B030D-6E8A-4147-A177-3AD203B41FA5}">
                      <a16:colId xmlns:a16="http://schemas.microsoft.com/office/drawing/2014/main" val="4250086885"/>
                    </a:ext>
                  </a:extLst>
                </a:gridCol>
              </a:tblGrid>
              <a:tr h="517737">
                <a:tc>
                  <a:txBody>
                    <a:bodyPr/>
                    <a:lstStyle/>
                    <a:p>
                      <a:pPr algn="ctr"/>
                      <a:r>
                        <a:rPr lang="en-US" sz="2000" dirty="0">
                          <a:latin typeface="+mj-lt"/>
                          <a:cs typeface="Microsoft Tai Le" panose="020B0502040204020203" pitchFamily="34" charset="0"/>
                        </a:rPr>
                        <a:t>MODEL</a:t>
                      </a:r>
                    </a:p>
                  </a:txBody>
                  <a:tcPr/>
                </a:tc>
                <a:tc>
                  <a:txBody>
                    <a:bodyPr/>
                    <a:lstStyle/>
                    <a:p>
                      <a:pPr algn="ctr"/>
                      <a:r>
                        <a:rPr lang="en-US" sz="2000" dirty="0">
                          <a:latin typeface="+mj-lt"/>
                          <a:cs typeface="Microsoft Tai Le" panose="020B0502040204020203" pitchFamily="34" charset="0"/>
                        </a:rPr>
                        <a:t>TEST ACCURACY</a:t>
                      </a:r>
                    </a:p>
                  </a:txBody>
                  <a:tcPr/>
                </a:tc>
                <a:tc>
                  <a:txBody>
                    <a:bodyPr/>
                    <a:lstStyle/>
                    <a:p>
                      <a:pPr algn="ctr"/>
                      <a:r>
                        <a:rPr lang="en-US" sz="2000" dirty="0">
                          <a:latin typeface="+mj-lt"/>
                          <a:cs typeface="Microsoft Tai Le" panose="020B0502040204020203" pitchFamily="34" charset="0"/>
                        </a:rPr>
                        <a:t>TRAIN ACCURACY</a:t>
                      </a:r>
                    </a:p>
                  </a:txBody>
                  <a:tcPr/>
                </a:tc>
                <a:extLst>
                  <a:ext uri="{0D108BD9-81ED-4DB2-BD59-A6C34878D82A}">
                    <a16:rowId xmlns:a16="http://schemas.microsoft.com/office/drawing/2014/main" val="149350654"/>
                  </a:ext>
                </a:extLst>
              </a:tr>
              <a:tr h="517737">
                <a:tc>
                  <a:txBody>
                    <a:bodyPr/>
                    <a:lstStyle/>
                    <a:p>
                      <a:r>
                        <a:rPr lang="en-US" sz="2400" dirty="0">
                          <a:latin typeface="Microsoft Tai Le" panose="020B0502040204020203" pitchFamily="34" charset="0"/>
                          <a:cs typeface="Microsoft Tai Le" panose="020B0502040204020203" pitchFamily="34" charset="0"/>
                        </a:rPr>
                        <a:t>Logistics Regression</a:t>
                      </a:r>
                    </a:p>
                  </a:txBody>
                  <a:tcPr/>
                </a:tc>
                <a:tc>
                  <a:txBody>
                    <a:bodyPr/>
                    <a:lstStyle/>
                    <a:p>
                      <a:r>
                        <a:rPr lang="en-US" sz="2400" dirty="0">
                          <a:latin typeface="Microsoft Tai Le" panose="020B0502040204020203" pitchFamily="34" charset="0"/>
                          <a:cs typeface="Microsoft Tai Le" panose="020B0502040204020203" pitchFamily="34" charset="0"/>
                        </a:rPr>
                        <a:t>98.144</a:t>
                      </a:r>
                    </a:p>
                  </a:txBody>
                  <a:tcPr/>
                </a:tc>
                <a:tc>
                  <a:txBody>
                    <a:bodyPr/>
                    <a:lstStyle/>
                    <a:p>
                      <a:r>
                        <a:rPr lang="en-US" sz="2400" dirty="0">
                          <a:latin typeface="Microsoft Tai Le" panose="020B0502040204020203" pitchFamily="34" charset="0"/>
                          <a:cs typeface="Microsoft Tai Le" panose="020B0502040204020203" pitchFamily="34" charset="0"/>
                        </a:rPr>
                        <a:t>98.069333</a:t>
                      </a:r>
                    </a:p>
                  </a:txBody>
                  <a:tcPr/>
                </a:tc>
                <a:extLst>
                  <a:ext uri="{0D108BD9-81ED-4DB2-BD59-A6C34878D82A}">
                    <a16:rowId xmlns:a16="http://schemas.microsoft.com/office/drawing/2014/main" val="461847254"/>
                  </a:ext>
                </a:extLst>
              </a:tr>
              <a:tr h="517737">
                <a:tc>
                  <a:txBody>
                    <a:bodyPr/>
                    <a:lstStyle/>
                    <a:p>
                      <a:r>
                        <a:rPr lang="en-US" sz="2400" dirty="0">
                          <a:latin typeface="Microsoft Tai Le" panose="020B0502040204020203" pitchFamily="34" charset="0"/>
                          <a:cs typeface="Microsoft Tai Le" panose="020B0502040204020203" pitchFamily="34" charset="0"/>
                        </a:rPr>
                        <a:t>Decision tree</a:t>
                      </a:r>
                    </a:p>
                  </a:txBody>
                  <a:tcPr/>
                </a:tc>
                <a:tc>
                  <a:txBody>
                    <a:bodyPr/>
                    <a:lstStyle/>
                    <a:p>
                      <a:r>
                        <a:rPr lang="en-US" sz="2400" dirty="0">
                          <a:latin typeface="Microsoft Tai Le" panose="020B0502040204020203" pitchFamily="34" charset="0"/>
                          <a:cs typeface="Microsoft Tai Le" panose="020B0502040204020203" pitchFamily="34" charset="0"/>
                        </a:rPr>
                        <a:t>96.328</a:t>
                      </a:r>
                    </a:p>
                  </a:txBody>
                  <a:tcPr/>
                </a:tc>
                <a:tc>
                  <a:txBody>
                    <a:bodyPr/>
                    <a:lstStyle/>
                    <a:p>
                      <a:r>
                        <a:rPr lang="en-US" sz="2400" dirty="0">
                          <a:latin typeface="Microsoft Tai Le" panose="020B0502040204020203" pitchFamily="34" charset="0"/>
                          <a:cs typeface="Microsoft Tai Le" panose="020B0502040204020203" pitchFamily="34" charset="0"/>
                        </a:rPr>
                        <a:t>100.000000</a:t>
                      </a:r>
                    </a:p>
                  </a:txBody>
                  <a:tcPr/>
                </a:tc>
                <a:extLst>
                  <a:ext uri="{0D108BD9-81ED-4DB2-BD59-A6C34878D82A}">
                    <a16:rowId xmlns:a16="http://schemas.microsoft.com/office/drawing/2014/main" val="1525628090"/>
                  </a:ext>
                </a:extLst>
              </a:tr>
              <a:tr h="517737">
                <a:tc>
                  <a:txBody>
                    <a:bodyPr/>
                    <a:lstStyle/>
                    <a:p>
                      <a:r>
                        <a:rPr lang="en-US" sz="2400" dirty="0">
                          <a:latin typeface="Microsoft Tai Le" panose="020B0502040204020203" pitchFamily="34" charset="0"/>
                          <a:cs typeface="Microsoft Tai Le" panose="020B0502040204020203" pitchFamily="34" charset="0"/>
                        </a:rPr>
                        <a:t>Random Forest</a:t>
                      </a:r>
                    </a:p>
                  </a:txBody>
                  <a:tcPr/>
                </a:tc>
                <a:tc>
                  <a:txBody>
                    <a:bodyPr/>
                    <a:lstStyle/>
                    <a:p>
                      <a:r>
                        <a:rPr lang="en-US" sz="2400" dirty="0">
                          <a:latin typeface="Microsoft Tai Le" panose="020B0502040204020203" pitchFamily="34" charset="0"/>
                          <a:cs typeface="Microsoft Tai Le" panose="020B0502040204020203" pitchFamily="34" charset="0"/>
                        </a:rPr>
                        <a:t>97.040</a:t>
                      </a:r>
                    </a:p>
                  </a:txBody>
                  <a:tcPr/>
                </a:tc>
                <a:tc>
                  <a:txBody>
                    <a:bodyPr/>
                    <a:lstStyle/>
                    <a:p>
                      <a:r>
                        <a:rPr lang="en-US" sz="2400" dirty="0">
                          <a:latin typeface="Microsoft Tai Le" panose="020B0502040204020203" pitchFamily="34" charset="0"/>
                          <a:cs typeface="Microsoft Tai Le" panose="020B0502040204020203" pitchFamily="34" charset="0"/>
                        </a:rPr>
                        <a:t>99.658667</a:t>
                      </a:r>
                    </a:p>
                  </a:txBody>
                  <a:tcPr/>
                </a:tc>
                <a:extLst>
                  <a:ext uri="{0D108BD9-81ED-4DB2-BD59-A6C34878D82A}">
                    <a16:rowId xmlns:a16="http://schemas.microsoft.com/office/drawing/2014/main" val="3282563225"/>
                  </a:ext>
                </a:extLst>
              </a:tr>
              <a:tr h="517737">
                <a:tc>
                  <a:txBody>
                    <a:bodyPr/>
                    <a:lstStyle/>
                    <a:p>
                      <a:r>
                        <a:rPr lang="en-US" sz="2400" dirty="0">
                          <a:latin typeface="Microsoft Tai Le" panose="020B0502040204020203" pitchFamily="34" charset="0"/>
                          <a:cs typeface="Microsoft Tai Le" panose="020B0502040204020203" pitchFamily="34" charset="0"/>
                        </a:rPr>
                        <a:t>K Neighbors Classifier</a:t>
                      </a:r>
                    </a:p>
                  </a:txBody>
                  <a:tcPr/>
                </a:tc>
                <a:tc>
                  <a:txBody>
                    <a:bodyPr/>
                    <a:lstStyle/>
                    <a:p>
                      <a:r>
                        <a:rPr lang="en-US" sz="2400" dirty="0">
                          <a:latin typeface="Microsoft Tai Le" panose="020B0502040204020203" pitchFamily="34" charset="0"/>
                          <a:cs typeface="Microsoft Tai Le" panose="020B0502040204020203" pitchFamily="34" charset="0"/>
                        </a:rPr>
                        <a:t>94.088</a:t>
                      </a:r>
                    </a:p>
                  </a:txBody>
                  <a:tcPr/>
                </a:tc>
                <a:tc>
                  <a:txBody>
                    <a:bodyPr/>
                    <a:lstStyle/>
                    <a:p>
                      <a:r>
                        <a:rPr lang="en-US" sz="2400" dirty="0">
                          <a:latin typeface="Microsoft Tai Le" panose="020B0502040204020203" pitchFamily="34" charset="0"/>
                          <a:cs typeface="Microsoft Tai Le" panose="020B0502040204020203" pitchFamily="34" charset="0"/>
                        </a:rPr>
                        <a:t>97.269333</a:t>
                      </a:r>
                    </a:p>
                  </a:txBody>
                  <a:tcPr/>
                </a:tc>
                <a:extLst>
                  <a:ext uri="{0D108BD9-81ED-4DB2-BD59-A6C34878D82A}">
                    <a16:rowId xmlns:a16="http://schemas.microsoft.com/office/drawing/2014/main" val="16528698"/>
                  </a:ext>
                </a:extLst>
              </a:tr>
              <a:tr h="517737">
                <a:tc>
                  <a:txBody>
                    <a:bodyPr/>
                    <a:lstStyle/>
                    <a:p>
                      <a:r>
                        <a:rPr lang="en-US" sz="2000" dirty="0">
                          <a:latin typeface="Microsoft Tai Le" panose="020B0502040204020203" pitchFamily="34" charset="0"/>
                          <a:cs typeface="Microsoft Tai Le" panose="020B0502040204020203" pitchFamily="34" charset="0"/>
                        </a:rPr>
                        <a:t>Support Vector Mechanism</a:t>
                      </a:r>
                    </a:p>
                  </a:txBody>
                  <a:tcPr/>
                </a:tc>
                <a:tc>
                  <a:txBody>
                    <a:bodyPr/>
                    <a:lstStyle/>
                    <a:p>
                      <a:r>
                        <a:rPr lang="en-US" sz="2400" dirty="0">
                          <a:latin typeface="Microsoft Tai Le" panose="020B0502040204020203" pitchFamily="34" charset="0"/>
                          <a:cs typeface="Microsoft Tai Le" panose="020B0502040204020203" pitchFamily="34" charset="0"/>
                        </a:rPr>
                        <a:t>98.024</a:t>
                      </a:r>
                    </a:p>
                  </a:txBody>
                  <a:tcPr/>
                </a:tc>
                <a:tc>
                  <a:txBody>
                    <a:bodyPr/>
                    <a:lstStyle/>
                    <a:p>
                      <a:r>
                        <a:rPr lang="en-US" sz="2400" dirty="0">
                          <a:latin typeface="Microsoft Tai Le" panose="020B0502040204020203" pitchFamily="34" charset="0"/>
                          <a:cs typeface="Microsoft Tai Le" panose="020B0502040204020203" pitchFamily="34" charset="0"/>
                        </a:rPr>
                        <a:t>98.210667</a:t>
                      </a:r>
                    </a:p>
                  </a:txBody>
                  <a:tcPr/>
                </a:tc>
                <a:extLst>
                  <a:ext uri="{0D108BD9-81ED-4DB2-BD59-A6C34878D82A}">
                    <a16:rowId xmlns:a16="http://schemas.microsoft.com/office/drawing/2014/main" val="4288792329"/>
                  </a:ext>
                </a:extLst>
              </a:tr>
              <a:tr h="517737">
                <a:tc>
                  <a:txBody>
                    <a:bodyPr/>
                    <a:lstStyle/>
                    <a:p>
                      <a:r>
                        <a:rPr lang="en-US" sz="2000" dirty="0">
                          <a:latin typeface="Microsoft Tai Le" panose="020B0502040204020203" pitchFamily="34" charset="0"/>
                          <a:cs typeface="Microsoft Tai Le" panose="020B0502040204020203" pitchFamily="34" charset="0"/>
                        </a:rPr>
                        <a:t>Naïve Bayes (Gaussian NB)</a:t>
                      </a:r>
                    </a:p>
                  </a:txBody>
                  <a:tcPr/>
                </a:tc>
                <a:tc>
                  <a:txBody>
                    <a:bodyPr/>
                    <a:lstStyle/>
                    <a:p>
                      <a:r>
                        <a:rPr lang="en-US" sz="2400" dirty="0">
                          <a:latin typeface="Microsoft Tai Le" panose="020B0502040204020203" pitchFamily="34" charset="0"/>
                          <a:cs typeface="Microsoft Tai Le" panose="020B0502040204020203" pitchFamily="34" charset="0"/>
                        </a:rPr>
                        <a:t>96.408</a:t>
                      </a:r>
                    </a:p>
                  </a:txBody>
                  <a:tcPr/>
                </a:tc>
                <a:tc>
                  <a:txBody>
                    <a:bodyPr/>
                    <a:lstStyle/>
                    <a:p>
                      <a:r>
                        <a:rPr lang="en-US" sz="2400" dirty="0">
                          <a:latin typeface="Microsoft Tai Le" panose="020B0502040204020203" pitchFamily="34" charset="0"/>
                          <a:cs typeface="Microsoft Tai Le" panose="020B0502040204020203" pitchFamily="34" charset="0"/>
                        </a:rPr>
                        <a:t>96.541333</a:t>
                      </a:r>
                    </a:p>
                  </a:txBody>
                  <a:tcPr/>
                </a:tc>
                <a:extLst>
                  <a:ext uri="{0D108BD9-81ED-4DB2-BD59-A6C34878D82A}">
                    <a16:rowId xmlns:a16="http://schemas.microsoft.com/office/drawing/2014/main" val="2624549563"/>
                  </a:ext>
                </a:extLst>
              </a:tr>
              <a:tr h="517737">
                <a:tc>
                  <a:txBody>
                    <a:bodyPr/>
                    <a:lstStyle/>
                    <a:p>
                      <a:r>
                        <a:rPr lang="en-US" sz="2400" dirty="0">
                          <a:latin typeface="Microsoft Tai Le" panose="020B0502040204020203" pitchFamily="34" charset="0"/>
                          <a:cs typeface="Microsoft Tai Le" panose="020B0502040204020203" pitchFamily="34" charset="0"/>
                        </a:rPr>
                        <a:t>Ada boost</a:t>
                      </a:r>
                    </a:p>
                  </a:txBody>
                  <a:tcPr/>
                </a:tc>
                <a:tc>
                  <a:txBody>
                    <a:bodyPr/>
                    <a:lstStyle/>
                    <a:p>
                      <a:r>
                        <a:rPr lang="en-US" sz="2400" dirty="0">
                          <a:latin typeface="Microsoft Tai Le" panose="020B0502040204020203" pitchFamily="34" charset="0"/>
                          <a:cs typeface="Microsoft Tai Le" panose="020B0502040204020203" pitchFamily="34" charset="0"/>
                        </a:rPr>
                        <a:t>94.008</a:t>
                      </a:r>
                    </a:p>
                  </a:txBody>
                  <a:tcPr/>
                </a:tc>
                <a:tc>
                  <a:txBody>
                    <a:bodyPr/>
                    <a:lstStyle/>
                    <a:p>
                      <a:r>
                        <a:rPr lang="en-US" sz="2400" dirty="0">
                          <a:latin typeface="Microsoft Tai Le" panose="020B0502040204020203" pitchFamily="34" charset="0"/>
                          <a:cs typeface="Microsoft Tai Le" panose="020B0502040204020203" pitchFamily="34" charset="0"/>
                        </a:rPr>
                        <a:t>93.944000</a:t>
                      </a:r>
                    </a:p>
                  </a:txBody>
                  <a:tcPr/>
                </a:tc>
                <a:extLst>
                  <a:ext uri="{0D108BD9-81ED-4DB2-BD59-A6C34878D82A}">
                    <a16:rowId xmlns:a16="http://schemas.microsoft.com/office/drawing/2014/main" val="410992582"/>
                  </a:ext>
                </a:extLst>
              </a:tr>
              <a:tr h="517737">
                <a:tc>
                  <a:txBody>
                    <a:bodyPr/>
                    <a:lstStyle/>
                    <a:p>
                      <a:r>
                        <a:rPr lang="en-US" sz="2400" dirty="0">
                          <a:latin typeface="Microsoft Tai Le" panose="020B0502040204020203" pitchFamily="34" charset="0"/>
                          <a:cs typeface="Microsoft Tai Le" panose="020B0502040204020203" pitchFamily="34" charset="0"/>
                        </a:rPr>
                        <a:t>Gradient boost</a:t>
                      </a:r>
                    </a:p>
                  </a:txBody>
                  <a:tcPr/>
                </a:tc>
                <a:tc>
                  <a:txBody>
                    <a:bodyPr/>
                    <a:lstStyle/>
                    <a:p>
                      <a:r>
                        <a:rPr lang="en-US" sz="2400" dirty="0">
                          <a:latin typeface="Microsoft Tai Le" panose="020B0502040204020203" pitchFamily="34" charset="0"/>
                          <a:cs typeface="Microsoft Tai Le" panose="020B0502040204020203" pitchFamily="34" charset="0"/>
                        </a:rPr>
                        <a:t>96.408</a:t>
                      </a:r>
                    </a:p>
                  </a:txBody>
                  <a:tcPr/>
                </a:tc>
                <a:tc>
                  <a:txBody>
                    <a:bodyPr/>
                    <a:lstStyle/>
                    <a:p>
                      <a:r>
                        <a:rPr lang="en-US" sz="2400" dirty="0">
                          <a:latin typeface="Microsoft Tai Le" panose="020B0502040204020203" pitchFamily="34" charset="0"/>
                          <a:cs typeface="Microsoft Tai Le" panose="020B0502040204020203" pitchFamily="34" charset="0"/>
                        </a:rPr>
                        <a:t>96.541333</a:t>
                      </a:r>
                    </a:p>
                  </a:txBody>
                  <a:tcPr/>
                </a:tc>
                <a:extLst>
                  <a:ext uri="{0D108BD9-81ED-4DB2-BD59-A6C34878D82A}">
                    <a16:rowId xmlns:a16="http://schemas.microsoft.com/office/drawing/2014/main" val="2953067156"/>
                  </a:ext>
                </a:extLst>
              </a:tr>
              <a:tr h="517737">
                <a:tc>
                  <a:txBody>
                    <a:bodyPr/>
                    <a:lstStyle/>
                    <a:p>
                      <a:r>
                        <a:rPr lang="en-US" sz="2400" dirty="0">
                          <a:latin typeface="Microsoft Tai Le" panose="020B0502040204020203" pitchFamily="34" charset="0"/>
                          <a:cs typeface="Microsoft Tai Le" panose="020B0502040204020203" pitchFamily="34" charset="0"/>
                        </a:rPr>
                        <a:t>XGB</a:t>
                      </a:r>
                    </a:p>
                  </a:txBody>
                  <a:tcPr/>
                </a:tc>
                <a:tc>
                  <a:txBody>
                    <a:bodyPr/>
                    <a:lstStyle/>
                    <a:p>
                      <a:r>
                        <a:rPr lang="en-US" sz="2400" dirty="0">
                          <a:latin typeface="Microsoft Tai Le" panose="020B0502040204020203" pitchFamily="34" charset="0"/>
                          <a:cs typeface="Microsoft Tai Le" panose="020B0502040204020203" pitchFamily="34" charset="0"/>
                        </a:rPr>
                        <a:t>97.752</a:t>
                      </a:r>
                    </a:p>
                  </a:txBody>
                  <a:tcPr/>
                </a:tc>
                <a:tc>
                  <a:txBody>
                    <a:bodyPr/>
                    <a:lstStyle/>
                    <a:p>
                      <a:r>
                        <a:rPr lang="en-US" sz="2400" dirty="0">
                          <a:latin typeface="Microsoft Tai Le" panose="020B0502040204020203" pitchFamily="34" charset="0"/>
                          <a:cs typeface="Microsoft Tai Le" panose="020B0502040204020203" pitchFamily="34" charset="0"/>
                        </a:rPr>
                        <a:t>99.517333</a:t>
                      </a:r>
                    </a:p>
                  </a:txBody>
                  <a:tcPr/>
                </a:tc>
                <a:extLst>
                  <a:ext uri="{0D108BD9-81ED-4DB2-BD59-A6C34878D82A}">
                    <a16:rowId xmlns:a16="http://schemas.microsoft.com/office/drawing/2014/main" val="3132534331"/>
                  </a:ext>
                </a:extLst>
              </a:tr>
            </a:tbl>
          </a:graphicData>
        </a:graphic>
      </p:graphicFrame>
      <p:sp>
        <p:nvSpPr>
          <p:cNvPr id="7" name="TextBox 6">
            <a:extLst>
              <a:ext uri="{FF2B5EF4-FFF2-40B4-BE49-F238E27FC236}">
                <a16:creationId xmlns:a16="http://schemas.microsoft.com/office/drawing/2014/main" id="{86518BD3-0DF7-4523-8724-D7DD2B47A3EE}"/>
              </a:ext>
            </a:extLst>
          </p:cNvPr>
          <p:cNvSpPr txBox="1"/>
          <p:nvPr/>
        </p:nvSpPr>
        <p:spPr>
          <a:xfrm flipH="1">
            <a:off x="533399" y="6138330"/>
            <a:ext cx="10261599" cy="461665"/>
          </a:xfrm>
          <a:prstGeom prst="rect">
            <a:avLst/>
          </a:prstGeom>
          <a:noFill/>
        </p:spPr>
        <p:txBody>
          <a:bodyPr wrap="square" rtlCol="0">
            <a:spAutoFit/>
          </a:bodyPr>
          <a:lstStyle/>
          <a:p>
            <a:r>
              <a:rPr lang="en-US" sz="2400" dirty="0">
                <a:latin typeface="Microsoft Tai Le" panose="020B0502040204020203" pitchFamily="34" charset="0"/>
                <a:cs typeface="Microsoft Tai Le" panose="020B0502040204020203" pitchFamily="34" charset="0"/>
              </a:rPr>
              <a:t>The selected model is </a:t>
            </a:r>
            <a:r>
              <a:rPr lang="en-US" sz="2400" b="1" dirty="0">
                <a:latin typeface="Microsoft Tai Le" panose="020B0502040204020203" pitchFamily="34" charset="0"/>
                <a:cs typeface="Microsoft Tai Le" panose="020B0502040204020203" pitchFamily="34" charset="0"/>
              </a:rPr>
              <a:t>Logistics Regression</a:t>
            </a:r>
            <a:r>
              <a:rPr lang="en-US" sz="2400" dirty="0">
                <a:latin typeface="Microsoft Tai Le" panose="020B0502040204020203" pitchFamily="34" charset="0"/>
                <a:cs typeface="Microsoft Tai Le" panose="020B0502040204020203" pitchFamily="34" charset="0"/>
              </a:rPr>
              <a:t>.</a:t>
            </a:r>
          </a:p>
        </p:txBody>
      </p:sp>
    </p:spTree>
    <p:extLst>
      <p:ext uri="{BB962C8B-B14F-4D97-AF65-F5344CB8AC3E}">
        <p14:creationId xmlns:p14="http://schemas.microsoft.com/office/powerpoint/2010/main" val="2120888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D88C40-64FD-4D34-911E-D3B558AC582D}"/>
              </a:ext>
            </a:extLst>
          </p:cNvPr>
          <p:cNvSpPr txBox="1"/>
          <p:nvPr/>
        </p:nvSpPr>
        <p:spPr>
          <a:xfrm>
            <a:off x="482597" y="737669"/>
            <a:ext cx="8788958" cy="584775"/>
          </a:xfrm>
          <a:prstGeom prst="rect">
            <a:avLst/>
          </a:prstGeom>
          <a:noFill/>
        </p:spPr>
        <p:txBody>
          <a:bodyPr wrap="square" rtlCol="0">
            <a:spAutoFit/>
          </a:bodyPr>
          <a:lstStyle/>
          <a:p>
            <a:r>
              <a:rPr lang="en-US" sz="3200" dirty="0">
                <a:latin typeface="+mj-lt"/>
              </a:rPr>
              <a:t>Hyperparameter Tuning</a:t>
            </a:r>
          </a:p>
        </p:txBody>
      </p:sp>
      <p:sp>
        <p:nvSpPr>
          <p:cNvPr id="12" name="TextBox 11">
            <a:extLst>
              <a:ext uri="{FF2B5EF4-FFF2-40B4-BE49-F238E27FC236}">
                <a16:creationId xmlns:a16="http://schemas.microsoft.com/office/drawing/2014/main" id="{5339ECA8-24AA-486B-A83E-7E5F45775BD5}"/>
              </a:ext>
            </a:extLst>
          </p:cNvPr>
          <p:cNvSpPr txBox="1"/>
          <p:nvPr/>
        </p:nvSpPr>
        <p:spPr>
          <a:xfrm flipH="1">
            <a:off x="482595" y="4790597"/>
            <a:ext cx="10818450" cy="1431161"/>
          </a:xfrm>
          <a:prstGeom prst="rect">
            <a:avLst/>
          </a:prstGeom>
          <a:noFill/>
        </p:spPr>
        <p:txBody>
          <a:bodyPr wrap="square" rtlCol="0">
            <a:spAutoFit/>
          </a:bodyPr>
          <a:lstStyle/>
          <a:p>
            <a:pPr lvl="1" algn="ctr">
              <a:spcBef>
                <a:spcPts val="600"/>
              </a:spcBef>
              <a:spcAft>
                <a:spcPts val="600"/>
              </a:spcAft>
            </a:pPr>
            <a:r>
              <a:rPr lang="en-US" sz="2400" b="1" dirty="0">
                <a:latin typeface="+mj-lt"/>
              </a:rPr>
              <a:t>Evaluate the Results:</a:t>
            </a:r>
          </a:p>
          <a:p>
            <a:r>
              <a:rPr lang="en-US" sz="2000" dirty="0">
                <a:latin typeface="Arial Rounded MT Bold" panose="020F0704030504030204" pitchFamily="34" charset="0"/>
                <a:cs typeface="Microsoft New Tai Lue" panose="020B0502040204020203" pitchFamily="34" charset="0"/>
              </a:rPr>
              <a:t>Best model</a:t>
            </a:r>
            <a:r>
              <a:rPr lang="en-US" sz="2000" dirty="0">
                <a:latin typeface="Microsoft New Tai Lue" panose="020B0502040204020203" pitchFamily="34" charset="0"/>
                <a:cs typeface="Microsoft New Tai Lue" panose="020B0502040204020203" pitchFamily="34" charset="0"/>
              </a:rPr>
              <a:t>:  Logistics Regression</a:t>
            </a:r>
          </a:p>
          <a:p>
            <a:r>
              <a:rPr lang="en-US" sz="2000" dirty="0">
                <a:latin typeface="Arial Rounded MT Bold" panose="020F0704030504030204" pitchFamily="34" charset="0"/>
                <a:cs typeface="Microsoft New Tai Lue" panose="020B0502040204020203" pitchFamily="34" charset="0"/>
              </a:rPr>
              <a:t>Best parameters: </a:t>
            </a:r>
            <a:r>
              <a:rPr lang="en-US" sz="2000" dirty="0">
                <a:latin typeface="Microsoft New Tai Lue" panose="020B0502040204020203" pitchFamily="34" charset="0"/>
                <a:cs typeface="Microsoft New Tai Lue" panose="020B0502040204020203" pitchFamily="34" charset="0"/>
              </a:rPr>
              <a:t>'C’: [10]</a:t>
            </a:r>
            <a:endParaRPr lang="en-US" sz="2000" dirty="0">
              <a:latin typeface="Arial Rounded MT Bold" panose="020F0704030504030204" pitchFamily="34" charset="0"/>
              <a:cs typeface="Microsoft New Tai Lue" panose="020B0502040204020203" pitchFamily="34" charset="0"/>
            </a:endParaRPr>
          </a:p>
          <a:p>
            <a:endParaRPr lang="en-US" b="1" dirty="0">
              <a:latin typeface="+mj-lt"/>
            </a:endParaRPr>
          </a:p>
        </p:txBody>
      </p:sp>
      <p:sp>
        <p:nvSpPr>
          <p:cNvPr id="6" name="TextBox 5">
            <a:extLst>
              <a:ext uri="{FF2B5EF4-FFF2-40B4-BE49-F238E27FC236}">
                <a16:creationId xmlns:a16="http://schemas.microsoft.com/office/drawing/2014/main" id="{27B22B23-7D68-48C9-B944-06CB33FF9B9F}"/>
              </a:ext>
            </a:extLst>
          </p:cNvPr>
          <p:cNvSpPr txBox="1"/>
          <p:nvPr/>
        </p:nvSpPr>
        <p:spPr>
          <a:xfrm>
            <a:off x="482597" y="1578128"/>
            <a:ext cx="11240480" cy="1323439"/>
          </a:xfrm>
          <a:prstGeom prst="rect">
            <a:avLst/>
          </a:prstGeom>
          <a:noFill/>
        </p:spPr>
        <p:txBody>
          <a:bodyPr wrap="square" rtlCol="0">
            <a:spAutoFit/>
          </a:bodyPr>
          <a:lstStyle/>
          <a:p>
            <a:r>
              <a:rPr lang="en-US" sz="2000" dirty="0">
                <a:latin typeface="Microsoft New Tai Lue" panose="020B0502040204020203" pitchFamily="34" charset="0"/>
                <a:cs typeface="Microsoft New Tai Lue" panose="020B0502040204020203" pitchFamily="34" charset="0"/>
              </a:rPr>
              <a:t>Hyperparameter tuning is the process of selecting the optimal hyperparameters for a machine learning model to improve its performance and generalization ability. Hyperparameters are configuration settings set before training begins and control various aspects of the model’s learning</a:t>
            </a:r>
            <a:r>
              <a:rPr lang="en-US" sz="2000" dirty="0"/>
              <a:t>.</a:t>
            </a:r>
          </a:p>
        </p:txBody>
      </p:sp>
      <p:sp>
        <p:nvSpPr>
          <p:cNvPr id="9" name="TextBox 8">
            <a:extLst>
              <a:ext uri="{FF2B5EF4-FFF2-40B4-BE49-F238E27FC236}">
                <a16:creationId xmlns:a16="http://schemas.microsoft.com/office/drawing/2014/main" id="{63589063-3A1D-453D-8178-8753BEDB2A4B}"/>
              </a:ext>
            </a:extLst>
          </p:cNvPr>
          <p:cNvSpPr txBox="1"/>
          <p:nvPr/>
        </p:nvSpPr>
        <p:spPr>
          <a:xfrm>
            <a:off x="482597" y="2992862"/>
            <a:ext cx="3392855" cy="461665"/>
          </a:xfrm>
          <a:prstGeom prst="rect">
            <a:avLst/>
          </a:prstGeom>
          <a:noFill/>
        </p:spPr>
        <p:txBody>
          <a:bodyPr wrap="square" rtlCol="0">
            <a:spAutoFit/>
          </a:bodyPr>
          <a:lstStyle/>
          <a:p>
            <a:r>
              <a:rPr lang="en-US" sz="2400" dirty="0" err="1">
                <a:latin typeface="Arial Rounded MT Bold" panose="020F0704030504030204" pitchFamily="34" charset="0"/>
              </a:rPr>
              <a:t>GridSearchCV</a:t>
            </a:r>
            <a:endParaRPr lang="en-US" sz="2400" dirty="0">
              <a:latin typeface="Arial Rounded MT Bold" panose="020F0704030504030204" pitchFamily="34" charset="0"/>
            </a:endParaRPr>
          </a:p>
        </p:txBody>
      </p:sp>
      <p:sp>
        <p:nvSpPr>
          <p:cNvPr id="14" name="TextBox 13">
            <a:extLst>
              <a:ext uri="{FF2B5EF4-FFF2-40B4-BE49-F238E27FC236}">
                <a16:creationId xmlns:a16="http://schemas.microsoft.com/office/drawing/2014/main" id="{0E478958-EF66-4801-9097-BDE92AC2E937}"/>
              </a:ext>
            </a:extLst>
          </p:cNvPr>
          <p:cNvSpPr txBox="1"/>
          <p:nvPr/>
        </p:nvSpPr>
        <p:spPr>
          <a:xfrm>
            <a:off x="482596" y="3633268"/>
            <a:ext cx="11240479" cy="707886"/>
          </a:xfrm>
          <a:prstGeom prst="rect">
            <a:avLst/>
          </a:prstGeom>
          <a:noFill/>
        </p:spPr>
        <p:txBody>
          <a:bodyPr wrap="square" rtlCol="0">
            <a:spAutoFit/>
          </a:bodyPr>
          <a:lstStyle/>
          <a:p>
            <a:r>
              <a:rPr lang="en-US" sz="2000" dirty="0">
                <a:latin typeface="Microsoft New Tai Lue" panose="020B0502040204020203" pitchFamily="34" charset="0"/>
                <a:cs typeface="Microsoft New Tai Lue" panose="020B0502040204020203" pitchFamily="34" charset="0"/>
              </a:rPr>
              <a:t>It is a hyperparameter tuning technique used to find the best combination of hyperparameters for a machine learning model. </a:t>
            </a:r>
          </a:p>
        </p:txBody>
      </p:sp>
    </p:spTree>
    <p:extLst>
      <p:ext uri="{BB962C8B-B14F-4D97-AF65-F5344CB8AC3E}">
        <p14:creationId xmlns:p14="http://schemas.microsoft.com/office/powerpoint/2010/main" val="166191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C794E8-2B7A-4383-8AC3-0137BCA8D3BB}"/>
              </a:ext>
            </a:extLst>
          </p:cNvPr>
          <p:cNvSpPr txBox="1"/>
          <p:nvPr/>
        </p:nvSpPr>
        <p:spPr>
          <a:xfrm>
            <a:off x="609600" y="1125415"/>
            <a:ext cx="10785231" cy="707886"/>
          </a:xfrm>
          <a:prstGeom prst="rect">
            <a:avLst/>
          </a:prstGeom>
          <a:noFill/>
        </p:spPr>
        <p:txBody>
          <a:bodyPr wrap="square" rtlCol="0">
            <a:spAutoFit/>
          </a:bodyPr>
          <a:lstStyle/>
          <a:p>
            <a:r>
              <a:rPr lang="en-US" sz="4000" dirty="0">
                <a:latin typeface="+mj-lt"/>
                <a:cs typeface="Microsoft Tai Le" panose="020B0502040204020203" pitchFamily="34" charset="0"/>
              </a:rPr>
              <a:t>Evaluated Matrices Result</a:t>
            </a:r>
            <a:endParaRPr lang="en-US" sz="4000" dirty="0">
              <a:latin typeface="+mj-lt"/>
            </a:endParaRPr>
          </a:p>
        </p:txBody>
      </p:sp>
      <p:sp>
        <p:nvSpPr>
          <p:cNvPr id="3" name="Rectangle 2">
            <a:extLst>
              <a:ext uri="{FF2B5EF4-FFF2-40B4-BE49-F238E27FC236}">
                <a16:creationId xmlns:a16="http://schemas.microsoft.com/office/drawing/2014/main" id="{E71C16A8-0EF7-4B98-97B7-15812993C819}"/>
              </a:ext>
            </a:extLst>
          </p:cNvPr>
          <p:cNvSpPr/>
          <p:nvPr/>
        </p:nvSpPr>
        <p:spPr>
          <a:xfrm>
            <a:off x="1383322" y="4305529"/>
            <a:ext cx="7831016" cy="1200329"/>
          </a:xfrm>
          <a:prstGeom prst="rect">
            <a:avLst/>
          </a:prstGeom>
        </p:spPr>
        <p:txBody>
          <a:bodyPr wrap="square">
            <a:spAutoFit/>
          </a:bodyPr>
          <a:lstStyle/>
          <a:p>
            <a:endParaRPr lang="en-US" dirty="0">
              <a:latin typeface="Microsoft Tai Le" panose="020B0502040204020203" pitchFamily="34" charset="0"/>
              <a:cs typeface="Microsoft Tai Le" panose="020B0502040204020203" pitchFamily="34" charset="0"/>
            </a:endParaRPr>
          </a:p>
          <a:p>
            <a:pPr marL="285750" indent="-285750">
              <a:buFont typeface="Arial" panose="020B0604020202020204" pitchFamily="34" charset="0"/>
              <a:buChar char="•"/>
            </a:pPr>
            <a:r>
              <a:rPr lang="en-US" dirty="0">
                <a:latin typeface="Microsoft Tai Le" panose="020B0502040204020203" pitchFamily="34" charset="0"/>
                <a:cs typeface="Microsoft Tai Le" panose="020B0502040204020203" pitchFamily="34" charset="0"/>
              </a:rPr>
              <a:t>Precision: 0.98</a:t>
            </a:r>
          </a:p>
          <a:p>
            <a:pPr marL="285750" indent="-285750">
              <a:buFont typeface="Arial" panose="020B0604020202020204" pitchFamily="34" charset="0"/>
              <a:buChar char="•"/>
            </a:pPr>
            <a:r>
              <a:rPr lang="en-US" dirty="0">
                <a:latin typeface="Microsoft Tai Le" panose="020B0502040204020203" pitchFamily="34" charset="0"/>
                <a:cs typeface="Microsoft Tai Le" panose="020B0502040204020203" pitchFamily="34" charset="0"/>
              </a:rPr>
              <a:t>Recall: 0.98</a:t>
            </a:r>
          </a:p>
          <a:p>
            <a:pPr marL="285750" indent="-285750">
              <a:buFont typeface="Arial" panose="020B0604020202020204" pitchFamily="34" charset="0"/>
              <a:buChar char="•"/>
            </a:pPr>
            <a:r>
              <a:rPr lang="en-US" dirty="0">
                <a:latin typeface="Microsoft Tai Le" panose="020B0502040204020203" pitchFamily="34" charset="0"/>
                <a:cs typeface="Microsoft Tai Le" panose="020B0502040204020203" pitchFamily="34" charset="0"/>
              </a:rPr>
              <a:t>F1 Score: 0.98</a:t>
            </a:r>
          </a:p>
        </p:txBody>
      </p:sp>
      <p:sp>
        <p:nvSpPr>
          <p:cNvPr id="4" name="TextBox 3">
            <a:extLst>
              <a:ext uri="{FF2B5EF4-FFF2-40B4-BE49-F238E27FC236}">
                <a16:creationId xmlns:a16="http://schemas.microsoft.com/office/drawing/2014/main" id="{AFDCDD61-150F-482E-8B15-5EE84DA91F6F}"/>
              </a:ext>
            </a:extLst>
          </p:cNvPr>
          <p:cNvSpPr txBox="1"/>
          <p:nvPr/>
        </p:nvSpPr>
        <p:spPr>
          <a:xfrm>
            <a:off x="609600" y="2297723"/>
            <a:ext cx="11183815" cy="923330"/>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400" dirty="0">
                <a:latin typeface="Arial Rounded MT Bold" panose="020F0704030504030204" pitchFamily="34" charset="0"/>
                <a:cs typeface="Microsoft New Tai Lue" panose="020B0502040204020203" pitchFamily="34" charset="0"/>
              </a:rPr>
              <a:t>Accuracy score: </a:t>
            </a:r>
            <a:r>
              <a:rPr lang="en-US" sz="2000" dirty="0">
                <a:latin typeface="Microsoft New Tai Lue" panose="020B0502040204020203" pitchFamily="34" charset="0"/>
                <a:cs typeface="Microsoft New Tai Lue" panose="020B0502040204020203" pitchFamily="34" charset="0"/>
              </a:rPr>
              <a:t>Overall proportion of correctly classified instances.</a:t>
            </a:r>
          </a:p>
          <a:p>
            <a:pPr>
              <a:spcBef>
                <a:spcPts val="600"/>
              </a:spcBef>
              <a:spcAft>
                <a:spcPts val="600"/>
              </a:spcAft>
            </a:pPr>
            <a:r>
              <a:rPr lang="en-US" sz="2000" dirty="0">
                <a:latin typeface="Microsoft New Tai Lue" panose="020B0502040204020203" pitchFamily="34" charset="0"/>
                <a:cs typeface="Microsoft New Tai Lue" panose="020B0502040204020203" pitchFamily="34" charset="0"/>
              </a:rPr>
              <a:t>                       Accuracy scores = 0.9812</a:t>
            </a:r>
          </a:p>
        </p:txBody>
      </p:sp>
      <p:sp>
        <p:nvSpPr>
          <p:cNvPr id="5" name="TextBox 4">
            <a:extLst>
              <a:ext uri="{FF2B5EF4-FFF2-40B4-BE49-F238E27FC236}">
                <a16:creationId xmlns:a16="http://schemas.microsoft.com/office/drawing/2014/main" id="{DD024AA7-F47A-4913-9CC5-83215E9FED2C}"/>
              </a:ext>
            </a:extLst>
          </p:cNvPr>
          <p:cNvSpPr txBox="1"/>
          <p:nvPr/>
        </p:nvSpPr>
        <p:spPr>
          <a:xfrm>
            <a:off x="609599" y="3790837"/>
            <a:ext cx="10785231" cy="769441"/>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400" dirty="0">
                <a:latin typeface="Arial Rounded MT Bold" panose="020F0704030504030204" pitchFamily="34" charset="0"/>
                <a:cs typeface="Microsoft New Tai Lue" panose="020B0502040204020203" pitchFamily="34" charset="0"/>
              </a:rPr>
              <a:t> Weighted Average</a:t>
            </a:r>
            <a:r>
              <a:rPr lang="en-US" sz="2000" dirty="0">
                <a:latin typeface="Microsoft New Tai Lue" panose="020B0502040204020203" pitchFamily="34" charset="0"/>
                <a:cs typeface="Microsoft New Tai Lue" panose="020B0502040204020203" pitchFamily="34" charset="0"/>
              </a:rPr>
              <a:t>:  Average of precision, recall, and F1 score, weighted by the number of true instances of each class.</a:t>
            </a:r>
          </a:p>
        </p:txBody>
      </p:sp>
    </p:spTree>
    <p:extLst>
      <p:ext uri="{BB962C8B-B14F-4D97-AF65-F5344CB8AC3E}">
        <p14:creationId xmlns:p14="http://schemas.microsoft.com/office/powerpoint/2010/main" val="321705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BD9D6C-5D6A-417D-8187-CDE626055F64}"/>
              </a:ext>
            </a:extLst>
          </p:cNvPr>
          <p:cNvSpPr txBox="1"/>
          <p:nvPr/>
        </p:nvSpPr>
        <p:spPr>
          <a:xfrm>
            <a:off x="420356" y="829914"/>
            <a:ext cx="8476343" cy="523220"/>
          </a:xfrm>
          <a:prstGeom prst="rect">
            <a:avLst/>
          </a:prstGeom>
          <a:noFill/>
        </p:spPr>
        <p:txBody>
          <a:bodyPr wrap="square" rtlCol="0">
            <a:spAutoFit/>
          </a:bodyPr>
          <a:lstStyle/>
          <a:p>
            <a:r>
              <a:rPr lang="en-US" sz="2800" dirty="0">
                <a:latin typeface="+mj-lt"/>
              </a:rPr>
              <a:t>INSIGHTS AND RECOMMENDATIONS</a:t>
            </a:r>
          </a:p>
        </p:txBody>
      </p:sp>
      <p:sp>
        <p:nvSpPr>
          <p:cNvPr id="5" name="TextBox 4">
            <a:extLst>
              <a:ext uri="{FF2B5EF4-FFF2-40B4-BE49-F238E27FC236}">
                <a16:creationId xmlns:a16="http://schemas.microsoft.com/office/drawing/2014/main" id="{489A21F4-9083-4141-9156-215563EB138B}"/>
              </a:ext>
            </a:extLst>
          </p:cNvPr>
          <p:cNvSpPr txBox="1"/>
          <p:nvPr/>
        </p:nvSpPr>
        <p:spPr>
          <a:xfrm>
            <a:off x="420356" y="1091524"/>
            <a:ext cx="9811658" cy="2785378"/>
          </a:xfrm>
          <a:prstGeom prst="rect">
            <a:avLst/>
          </a:prstGeom>
          <a:noFill/>
        </p:spPr>
        <p:txBody>
          <a:bodyPr wrap="square" rtlCol="0">
            <a:spAutoFit/>
          </a:bodyPr>
          <a:lstStyle/>
          <a:p>
            <a:pPr>
              <a:lnSpc>
                <a:spcPct val="250000"/>
              </a:lnSpc>
              <a:spcBef>
                <a:spcPts val="600"/>
              </a:spcBef>
              <a:spcAft>
                <a:spcPts val="600"/>
              </a:spcAft>
            </a:pPr>
            <a:r>
              <a:rPr lang="en-US" sz="2400" dirty="0">
                <a:latin typeface="Arial Rounded MT Bold" panose="020F0704030504030204" pitchFamily="34" charset="0"/>
                <a:cs typeface="Microsoft Tai Le" panose="020B0502040204020203" pitchFamily="34" charset="0"/>
              </a:rPr>
              <a:t>KEY FINDINGS:</a:t>
            </a:r>
          </a:p>
          <a:p>
            <a:pPr marL="342900" indent="-342900">
              <a:spcBef>
                <a:spcPts val="600"/>
              </a:spcBef>
              <a:spcAft>
                <a:spcPts val="600"/>
              </a:spcAft>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Flawless Metrics: The model demonstrates perfect accuracy, precision, and recall scores .</a:t>
            </a:r>
          </a:p>
          <a:p>
            <a:pPr marL="342900" indent="-342900">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Logistics Regression handled complex data patterns effectively.</a:t>
            </a:r>
          </a:p>
          <a:p>
            <a:pPr marL="342900" indent="-342900">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Scaling significantly improved performance.</a:t>
            </a:r>
          </a:p>
          <a:p>
            <a:pPr marL="342900" indent="-342900">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Psychological score features had strong predictive power.</a:t>
            </a:r>
          </a:p>
        </p:txBody>
      </p:sp>
      <p:sp>
        <p:nvSpPr>
          <p:cNvPr id="6" name="TextBox 5">
            <a:extLst>
              <a:ext uri="{FF2B5EF4-FFF2-40B4-BE49-F238E27FC236}">
                <a16:creationId xmlns:a16="http://schemas.microsoft.com/office/drawing/2014/main" id="{010A2C07-236B-4063-8F6E-8ED5A16F8B00}"/>
              </a:ext>
            </a:extLst>
          </p:cNvPr>
          <p:cNvSpPr txBox="1"/>
          <p:nvPr/>
        </p:nvSpPr>
        <p:spPr>
          <a:xfrm>
            <a:off x="420356" y="4196815"/>
            <a:ext cx="7416801" cy="1954381"/>
          </a:xfrm>
          <a:prstGeom prst="rect">
            <a:avLst/>
          </a:prstGeom>
          <a:noFill/>
        </p:spPr>
        <p:txBody>
          <a:bodyPr wrap="square" rtlCol="0">
            <a:spAutoFit/>
          </a:bodyPr>
          <a:lstStyle/>
          <a:p>
            <a:pPr>
              <a:lnSpc>
                <a:spcPct val="150000"/>
              </a:lnSpc>
              <a:spcBef>
                <a:spcPts val="600"/>
              </a:spcBef>
              <a:spcAft>
                <a:spcPts val="600"/>
              </a:spcAft>
            </a:pPr>
            <a:r>
              <a:rPr lang="en-US" sz="2400" dirty="0">
                <a:latin typeface="Arial Rounded MT Bold" panose="020F0704030504030204" pitchFamily="34" charset="0"/>
              </a:rPr>
              <a:t>Recommendations:</a:t>
            </a:r>
          </a:p>
          <a:p>
            <a:pPr marL="342900" indent="-342900">
              <a:spcBef>
                <a:spcPts val="600"/>
              </a:spcBef>
              <a:spcAft>
                <a:spcPts val="600"/>
              </a:spcAft>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Use more real-world clinical datasets.</a:t>
            </a:r>
          </a:p>
          <a:p>
            <a:pPr marL="342900" indent="-342900">
              <a:spcBef>
                <a:spcPts val="600"/>
              </a:spcBef>
              <a:spcAft>
                <a:spcPts val="600"/>
              </a:spcAft>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Perform periodic model retraining.</a:t>
            </a:r>
          </a:p>
          <a:p>
            <a:pPr marL="342900" indent="-342900">
              <a:buFont typeface="Arial" panose="020B0604020202020204" pitchFamily="34" charset="0"/>
              <a:buChar char="•"/>
            </a:pPr>
            <a:r>
              <a:rPr lang="en-US" sz="2000" dirty="0">
                <a:latin typeface="Microsoft Tai Le" panose="020B0502040204020203" pitchFamily="34" charset="0"/>
                <a:cs typeface="Microsoft Tai Le" panose="020B0502040204020203" pitchFamily="34" charset="0"/>
              </a:rPr>
              <a:t>Test model on external validation datasets.</a:t>
            </a:r>
          </a:p>
        </p:txBody>
      </p:sp>
    </p:spTree>
    <p:extLst>
      <p:ext uri="{BB962C8B-B14F-4D97-AF65-F5344CB8AC3E}">
        <p14:creationId xmlns:p14="http://schemas.microsoft.com/office/powerpoint/2010/main" val="1511400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F4612B-7967-4A28-B959-7F826C8DEA97}"/>
              </a:ext>
            </a:extLst>
          </p:cNvPr>
          <p:cNvSpPr txBox="1"/>
          <p:nvPr/>
        </p:nvSpPr>
        <p:spPr>
          <a:xfrm>
            <a:off x="508000" y="754517"/>
            <a:ext cx="8810171" cy="523220"/>
          </a:xfrm>
          <a:prstGeom prst="rect">
            <a:avLst/>
          </a:prstGeom>
          <a:noFill/>
        </p:spPr>
        <p:txBody>
          <a:bodyPr wrap="square" rtlCol="0">
            <a:spAutoFit/>
          </a:bodyPr>
          <a:lstStyle/>
          <a:p>
            <a:r>
              <a:rPr lang="en-US" sz="2800" dirty="0">
                <a:latin typeface="+mj-lt"/>
              </a:rPr>
              <a:t>SOLUTION IMPLEMENTATION</a:t>
            </a:r>
          </a:p>
        </p:txBody>
      </p:sp>
      <p:sp>
        <p:nvSpPr>
          <p:cNvPr id="3" name="TextBox 2">
            <a:extLst>
              <a:ext uri="{FF2B5EF4-FFF2-40B4-BE49-F238E27FC236}">
                <a16:creationId xmlns:a16="http://schemas.microsoft.com/office/drawing/2014/main" id="{79DA2E60-DF23-481B-BF9F-983F4B0890C2}"/>
              </a:ext>
            </a:extLst>
          </p:cNvPr>
          <p:cNvSpPr txBox="1"/>
          <p:nvPr/>
        </p:nvSpPr>
        <p:spPr>
          <a:xfrm>
            <a:off x="508000" y="1608396"/>
            <a:ext cx="7141029" cy="2292935"/>
          </a:xfrm>
          <a:prstGeom prst="rect">
            <a:avLst/>
          </a:prstGeom>
          <a:noFill/>
        </p:spPr>
        <p:txBody>
          <a:bodyPr wrap="square" rtlCol="0">
            <a:spAutoFit/>
          </a:bodyPr>
          <a:lstStyle/>
          <a:p>
            <a:pPr>
              <a:spcBef>
                <a:spcPts val="600"/>
              </a:spcBef>
              <a:spcAft>
                <a:spcPts val="600"/>
              </a:spcAft>
            </a:pPr>
            <a:r>
              <a:rPr lang="en-US" sz="2400" dirty="0">
                <a:latin typeface="Arial Rounded MT Bold" panose="020F0704030504030204" pitchFamily="34" charset="0"/>
              </a:rPr>
              <a:t>Implementation Steps </a:t>
            </a:r>
            <a:endParaRPr lang="en-US" sz="2400" dirty="0"/>
          </a:p>
          <a:p>
            <a:pPr marL="285750" indent="-28575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Deploy Logistics Regression model using </a:t>
            </a:r>
            <a:r>
              <a:rPr lang="en-US" sz="2400" dirty="0" err="1">
                <a:latin typeface="Microsoft Tai Le" panose="020B0502040204020203" pitchFamily="34" charset="0"/>
                <a:cs typeface="Microsoft Tai Le" panose="020B0502040204020203" pitchFamily="34" charset="0"/>
              </a:rPr>
              <a:t>Streamlit</a:t>
            </a:r>
            <a:r>
              <a:rPr lang="en-US" sz="2400" dirty="0">
                <a:latin typeface="Microsoft Tai Le" panose="020B0502040204020203" pitchFamily="34" charset="0"/>
                <a:cs typeface="Microsoft Tai Le" panose="020B0502040204020203" pitchFamily="34" charset="0"/>
              </a:rPr>
              <a:t>.</a:t>
            </a:r>
          </a:p>
          <a:p>
            <a:pPr marL="285750" indent="-28575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Integrate into mental health support systems.</a:t>
            </a:r>
          </a:p>
          <a:p>
            <a:pPr marL="285750" indent="-28575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Monitor model performance regularly.</a:t>
            </a:r>
          </a:p>
          <a:p>
            <a:endParaRPr lang="en-US" dirty="0"/>
          </a:p>
        </p:txBody>
      </p:sp>
      <p:sp>
        <p:nvSpPr>
          <p:cNvPr id="4" name="TextBox 3">
            <a:extLst>
              <a:ext uri="{FF2B5EF4-FFF2-40B4-BE49-F238E27FC236}">
                <a16:creationId xmlns:a16="http://schemas.microsoft.com/office/drawing/2014/main" id="{3454BBCA-057A-48CA-9973-CA4B4FEE3E9D}"/>
              </a:ext>
            </a:extLst>
          </p:cNvPr>
          <p:cNvSpPr txBox="1"/>
          <p:nvPr/>
        </p:nvSpPr>
        <p:spPr>
          <a:xfrm>
            <a:off x="508000" y="3243376"/>
            <a:ext cx="8157029" cy="2754600"/>
          </a:xfrm>
          <a:prstGeom prst="rect">
            <a:avLst/>
          </a:prstGeom>
          <a:noFill/>
        </p:spPr>
        <p:txBody>
          <a:bodyPr wrap="square" rtlCol="0">
            <a:spAutoFit/>
          </a:bodyPr>
          <a:lstStyle/>
          <a:p>
            <a:pPr>
              <a:lnSpc>
                <a:spcPct val="300000"/>
              </a:lnSpc>
              <a:spcBef>
                <a:spcPts val="600"/>
              </a:spcBef>
              <a:spcAft>
                <a:spcPts val="600"/>
              </a:spcAft>
            </a:pPr>
            <a:r>
              <a:rPr lang="en-US" sz="2400" dirty="0">
                <a:latin typeface="Arial Rounded MT Bold" panose="020F0704030504030204" pitchFamily="34" charset="0"/>
              </a:rPr>
              <a:t>Impact:</a:t>
            </a:r>
          </a:p>
          <a:p>
            <a:pPr marL="342900" indent="-34290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Faster mental health screening.</a:t>
            </a:r>
          </a:p>
          <a:p>
            <a:pPr marL="342900" indent="-34290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Improved early decision-making.</a:t>
            </a:r>
          </a:p>
          <a:p>
            <a:pPr marL="342900" indent="-34290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Scalable and efficient prediction system.</a:t>
            </a:r>
          </a:p>
          <a:p>
            <a:pPr marL="342900" indent="-342900">
              <a:buFont typeface="Arial" panose="020B0604020202020204" pitchFamily="34" charset="0"/>
              <a:buChar char="•"/>
            </a:pPr>
            <a:r>
              <a:rPr lang="en-US" sz="2400" dirty="0">
                <a:latin typeface="Microsoft Tai Le" panose="020B0502040204020203" pitchFamily="34" charset="0"/>
                <a:cs typeface="Microsoft Tai Le" panose="020B0502040204020203" pitchFamily="34" charset="0"/>
              </a:rPr>
              <a:t>Cost and Time Efficiency.</a:t>
            </a:r>
          </a:p>
        </p:txBody>
      </p:sp>
    </p:spTree>
    <p:extLst>
      <p:ext uri="{BB962C8B-B14F-4D97-AF65-F5344CB8AC3E}">
        <p14:creationId xmlns:p14="http://schemas.microsoft.com/office/powerpoint/2010/main" val="289168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3355EA-D512-4972-947E-C4079639B580}"/>
              </a:ext>
            </a:extLst>
          </p:cNvPr>
          <p:cNvSpPr txBox="1"/>
          <p:nvPr/>
        </p:nvSpPr>
        <p:spPr>
          <a:xfrm>
            <a:off x="562708" y="1125415"/>
            <a:ext cx="6096000" cy="584775"/>
          </a:xfrm>
          <a:prstGeom prst="rect">
            <a:avLst/>
          </a:prstGeom>
          <a:noFill/>
        </p:spPr>
        <p:txBody>
          <a:bodyPr wrap="square" rtlCol="0">
            <a:spAutoFit/>
          </a:bodyPr>
          <a:lstStyle/>
          <a:p>
            <a:r>
              <a:rPr lang="en-US" sz="3200" dirty="0">
                <a:latin typeface="+mj-lt"/>
              </a:rPr>
              <a:t>CONCLUSION</a:t>
            </a:r>
          </a:p>
        </p:txBody>
      </p:sp>
      <p:sp>
        <p:nvSpPr>
          <p:cNvPr id="4" name="TextBox 3">
            <a:extLst>
              <a:ext uri="{FF2B5EF4-FFF2-40B4-BE49-F238E27FC236}">
                <a16:creationId xmlns:a16="http://schemas.microsoft.com/office/drawing/2014/main" id="{7C8A58E3-D4BB-4DC5-8316-5D37D9E6A27E}"/>
              </a:ext>
            </a:extLst>
          </p:cNvPr>
          <p:cNvSpPr txBox="1"/>
          <p:nvPr/>
        </p:nvSpPr>
        <p:spPr>
          <a:xfrm>
            <a:off x="351692" y="2157046"/>
            <a:ext cx="11230708" cy="4031873"/>
          </a:xfrm>
          <a:prstGeom prst="rect">
            <a:avLst/>
          </a:prstGeom>
          <a:noFill/>
        </p:spPr>
        <p:txBody>
          <a:bodyPr wrap="square" rtlCol="0">
            <a:spAutoFit/>
          </a:bodyPr>
          <a:lstStyle/>
          <a:p>
            <a:r>
              <a:rPr lang="en-US" dirty="0">
                <a:latin typeface="Microsoft Tai Le" panose="020B0502040204020203" pitchFamily="34" charset="0"/>
                <a:cs typeface="Microsoft Tai Le" panose="020B0502040204020203" pitchFamily="34" charset="0"/>
              </a:rPr>
              <a:t>         </a:t>
            </a:r>
            <a:r>
              <a:rPr lang="en-US" sz="2000" dirty="0">
                <a:latin typeface="Microsoft Tai Le" panose="020B0502040204020203" pitchFamily="34" charset="0"/>
                <a:cs typeface="Microsoft Tai Le" panose="020B0502040204020203" pitchFamily="34" charset="0"/>
              </a:rPr>
              <a:t>The project successfully demonstrates the application of machine learning techniques for predicting mental health disorders using structured data. It developed a mental health prediction system using the </a:t>
            </a:r>
            <a:r>
              <a:rPr lang="en-US" sz="2000" b="1" dirty="0">
                <a:latin typeface="Microsoft Tai Le" panose="020B0502040204020203" pitchFamily="34" charset="0"/>
                <a:cs typeface="Microsoft Tai Le" panose="020B0502040204020203" pitchFamily="34" charset="0"/>
              </a:rPr>
              <a:t>Logistics Regression </a:t>
            </a:r>
            <a:r>
              <a:rPr lang="en-US" sz="2000" dirty="0">
                <a:latin typeface="Microsoft Tai Le" panose="020B0502040204020203" pitchFamily="34" charset="0"/>
                <a:cs typeface="Microsoft Tai Le" panose="020B0502040204020203" pitchFamily="34" charset="0"/>
              </a:rPr>
              <a:t>algorithm. The model demonstrated high performance, reliability and consistency, making it suitable for real-world mental health risk prediction. The result indicate that machine learning can serve as a powerful decision-support-tool for early mental health risk identification. While the system does not replace medical professionals, it provides valuable insights that can assist in early screening, awareness and timely intervention.</a:t>
            </a:r>
          </a:p>
          <a:p>
            <a:r>
              <a:rPr lang="en-US" sz="2000" dirty="0">
                <a:latin typeface="Microsoft Tai Le" panose="020B0502040204020203" pitchFamily="34" charset="0"/>
                <a:cs typeface="Microsoft Tai Le" panose="020B0502040204020203" pitchFamily="34" charset="0"/>
              </a:rPr>
              <a:t>  </a:t>
            </a:r>
          </a:p>
          <a:p>
            <a:r>
              <a:rPr lang="en-US" sz="2000" dirty="0">
                <a:latin typeface="Microsoft Tai Le" panose="020B0502040204020203" pitchFamily="34" charset="0"/>
                <a:cs typeface="Microsoft Tai Le" panose="020B0502040204020203" pitchFamily="34" charset="0"/>
              </a:rPr>
              <a:t>          Overall, this project highlights the potential of data- driven, ethical and scalable solutions in the healthcare domain, especially in addressing mental health challenges efficiently and responsibly.</a:t>
            </a:r>
          </a:p>
          <a:p>
            <a:endParaRPr lang="en-US" dirty="0">
              <a:latin typeface="Microsoft Tai Le" panose="020B0502040204020203" pitchFamily="34" charset="0"/>
              <a:cs typeface="Microsoft Tai Le" panose="020B0502040204020203" pitchFamily="34" charset="0"/>
            </a:endParaRPr>
          </a:p>
          <a:p>
            <a:r>
              <a:rPr lang="en-US" dirty="0">
                <a:latin typeface="Microsoft Tai Le" panose="020B0502040204020203" pitchFamily="34" charset="0"/>
                <a:cs typeface="Microsoft Tai Le" panose="020B0502040204020203" pitchFamily="34" charset="0"/>
              </a:rPr>
              <a:t>      </a:t>
            </a:r>
          </a:p>
        </p:txBody>
      </p:sp>
    </p:spTree>
    <p:extLst>
      <p:ext uri="{BB962C8B-B14F-4D97-AF65-F5344CB8AC3E}">
        <p14:creationId xmlns:p14="http://schemas.microsoft.com/office/powerpoint/2010/main" val="1947196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38EC95-9FBE-4A1C-9132-EA1A50556CB2}"/>
              </a:ext>
            </a:extLst>
          </p:cNvPr>
          <p:cNvSpPr txBox="1"/>
          <p:nvPr/>
        </p:nvSpPr>
        <p:spPr>
          <a:xfrm>
            <a:off x="2133599" y="1865292"/>
            <a:ext cx="8606971" cy="2462213"/>
          </a:xfrm>
          <a:prstGeom prst="rect">
            <a:avLst/>
          </a:prstGeom>
          <a:noFill/>
        </p:spPr>
        <p:txBody>
          <a:bodyPr wrap="square" rtlCol="0">
            <a:spAutoFit/>
          </a:bodyPr>
          <a:lstStyle/>
          <a:p>
            <a:pPr algn="ctr">
              <a:lnSpc>
                <a:spcPct val="300000"/>
              </a:lnSpc>
            </a:pPr>
            <a:r>
              <a:rPr lang="en-US" sz="3600" b="1" dirty="0">
                <a:latin typeface="+mj-lt"/>
              </a:rPr>
              <a:t>THANK YOU</a:t>
            </a:r>
          </a:p>
          <a:p>
            <a:r>
              <a:rPr lang="en-US" sz="2800" dirty="0"/>
              <a:t>HOPE YOU ALL TAKE CARE OF YOUR MENTAL HEALTH</a:t>
            </a:r>
          </a:p>
          <a:p>
            <a:endParaRPr lang="en-US" dirty="0"/>
          </a:p>
        </p:txBody>
      </p:sp>
    </p:spTree>
    <p:extLst>
      <p:ext uri="{BB962C8B-B14F-4D97-AF65-F5344CB8AC3E}">
        <p14:creationId xmlns:p14="http://schemas.microsoft.com/office/powerpoint/2010/main" val="1417822774"/>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Century School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4235</TotalTime>
  <Words>1004</Words>
  <Application>Microsoft Office PowerPoint</Application>
  <PresentationFormat>Widescreen</PresentationFormat>
  <Paragraphs>205</Paragraphs>
  <Slides>16</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Arial</vt:lpstr>
      <vt:lpstr>Arial Black</vt:lpstr>
      <vt:lpstr>Arial Rounded MT Bold</vt:lpstr>
      <vt:lpstr>Bahnschrift</vt:lpstr>
      <vt:lpstr>Bahnschrift SemiBold</vt:lpstr>
      <vt:lpstr>Bahnschrift SemiBold SemiConden</vt:lpstr>
      <vt:lpstr>Calibri</vt:lpstr>
      <vt:lpstr>Century Schoolbook</vt:lpstr>
      <vt:lpstr>Copperplate Gothic Bold</vt:lpstr>
      <vt:lpstr>Franklin Gothic Book</vt:lpstr>
      <vt:lpstr>Microsoft New Tai Lue</vt:lpstr>
      <vt:lpstr>Microsoft Tai Le</vt:lpstr>
      <vt:lpstr>Wingdings 2</vt:lpstr>
      <vt:lpstr>DividendVTI</vt:lpstr>
      <vt:lpstr>MENTAL  HEALTH   prEDICTION </vt:lpstr>
      <vt:lpstr>objective</vt:lpstr>
      <vt:lpstr>CHOOSING A DATASET</vt:lpstr>
      <vt:lpstr>PowerPoint Presentation</vt:lpstr>
      <vt:lpstr>PowerPoint Presentation</vt:lpstr>
      <vt:lpstr>PowerPoint Presentation</vt:lpstr>
      <vt:lpstr>Exploratory data analytics (eda)</vt:lpstr>
      <vt:lpstr>Summary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HEALTH        PREDICTION</dc:title>
  <dc:creator>DELL</dc:creator>
  <cp:lastModifiedBy>DELL</cp:lastModifiedBy>
  <cp:revision>16</cp:revision>
  <dcterms:created xsi:type="dcterms:W3CDTF">2025-12-09T10:28:09Z</dcterms:created>
  <dcterms:modified xsi:type="dcterms:W3CDTF">2026-01-31T04:51:25Z</dcterms:modified>
</cp:coreProperties>
</file>